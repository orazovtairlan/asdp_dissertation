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e4478cf3-95b3-d55a-e216-573128a4868e}">
          <p14:sldIdLst>
            <p14:sldId id="256"/>
          </p14:sldIdLst>
        </p14:section>
        <p14:section name="Process and technologies" id="{0a4827b3-0881-4652-ecb4-a732c19842c4}">
          <p14:sldIdLst>
            <p14:sldId id="257"/>
            <p14:sldId id="258"/>
            <p14:sldId id="259"/>
          </p14:sldIdLst>
        </p14:section>
        <p14:section name="Version control and CI/CD" id="{16d5e853-65cd-ec7e-6793-bdbd264d219c}">
          <p14:sldIdLst>
            <p14:sldId id="260"/>
            <p14:sldId id="261"/>
            <p14:sldId id="262"/>
            <p14:sldId id="263"/>
          </p14:sldIdLst>
        </p14:section>
        <p14:section name="Scientific software and module" id="{3a702017-42a8-cc23-5a95-30b33a46cd13}">
          <p14:sldIdLst>
            <p14:sldId id="264"/>
            <p14:sldId id="265"/>
            <p14:sldId id="266"/>
          </p14:sldIdLst>
        </p14:section>
        <p14:section name="Conclusion" id="{4dda66ab-e342-b71e-56ad-6a6f6a8a3d03}">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B2D"/>
                </a:solidFill>
                <a:latin typeface="Calibri"/>
              </a:defRPr>
            </a:pPr>
            <a:r>
              <a:rPr sz="1400" b="0" i="0" u="none" strike="noStrike">
                <a:solidFill>
                  <a:srgbClr val="0F1B2D"/>
                </a:solidFill>
                <a:latin typeface="Calibri"/>
              </a:rPr>
              <a:t>Backend line coverage by module, %</a:t>
            </a:r>
          </a:p>
        </c:rich>
      </c:tx>
      <c:layout/>
      <c:overlay val="0"/>
    </c:title>
    <c:autoTitleDeleted val="0"/>
    <c:plotArea>
      <c:layout/>
      <c:barChart>
        <c:barDir val="bar"/>
        <c:grouping val="clustered"/>
        <c:varyColors val="0"/>
        <c:ser>
          <c:idx val="0"/>
          <c:order val="0"/>
          <c:tx>
            <c:strRef>
              <c:f>Sheet1!$B$1</c:f>
              <c:strCache>
                <c:ptCount val="1"/>
                <c:pt idx="0">
                  <c:v>Coverage, %</c:v>
                </c:pt>
              </c:strCache>
            </c:strRef>
          </c:tx>
          <c:spPr>
            <a:solidFill>
              <a:srgbClr val="0E9F8E"/>
            </a:solidFill>
            <a:effectLst/>
          </c:spPr>
          <c:invertIfNegative val="0"/>
          <c:dLbls>
            <c:numFmt formatCode="#,##0" sourceLinked="0"/>
            <c:txPr>
              <a:bodyPr/>
              <a:lstStyle/>
              <a:p>
                <a:pPr>
                  <a:defRPr b="0" i="0" strike="noStrike" sz="1100" u="none">
                    <a:solidFill>
                      <a:srgbClr val="13202F"/>
                    </a:solidFill>
                    <a:latin typeface="Calibri"/>
                  </a:defRPr>
                </a:pPr>
              </a:p>
            </c:txPr>
            <c:showLegendKey val="0"/>
            <c:showVal val="1"/>
            <c:showCatName val="0"/>
            <c:showSerName val="0"/>
            <c:showPercent val="0"/>
            <c:showBubbleSize val="0"/>
            <c:showLeaderLines val="0"/>
          </c:dLbls>
          <c:cat>
            <c:multiLvlStrRef>
              <c:f>Sheet1!$A$2:$A$11</c:f>
              <c:multiLvlStrCache>
                <c:ptCount val="10"/>
                <c:lvl>
                  <c:pt idx="0">
                    <c:v>evaluate</c:v>
                  </c:pt>
                  <c:pt idx="1">
                    <c:v>docparse</c:v>
                  </c:pt>
                  <c:pt idx="2">
                    <c:v>vision</c:v>
                  </c:pt>
                  <c:pt idx="3">
                    <c:v>cli</c:v>
                  </c:pt>
                  <c:pt idx="4">
                    <c:v>catalog</c:v>
                  </c:pt>
                  <c:pt idx="5">
                    <c:v>llm</c:v>
                  </c:pt>
                  <c:pt idx="6">
                    <c:v>main</c:v>
                  </c:pt>
                  <c:pt idx="7">
                    <c:v>pipeline</c:v>
                  </c:pt>
                  <c:pt idx="8">
                    <c:v>imaging</c:v>
                  </c:pt>
                  <c:pt idx="9">
                    <c:v>prompts</c:v>
                  </c:pt>
                </c:lvl>
              </c:multiLvlStrCache>
            </c:multiLvlStrRef>
          </c:cat>
          <c:val>
            <c:numRef>
              <c:f>Sheet1!$B$2:$B$11</c:f>
              <c:numCache>
                <c:formatCode>General</c:formatCode>
                <c:ptCount val="10"/>
                <c:pt idx="0">
                  <c:v>97</c:v>
                </c:pt>
                <c:pt idx="1">
                  <c:v>96</c:v>
                </c:pt>
                <c:pt idx="2">
                  <c:v>96</c:v>
                </c:pt>
                <c:pt idx="3">
                  <c:v>93</c:v>
                </c:pt>
                <c:pt idx="4">
                  <c:v>92</c:v>
                </c:pt>
                <c:pt idx="5">
                  <c:v>92</c:v>
                </c:pt>
                <c:pt idx="6">
                  <c:v>91</c:v>
                </c:pt>
                <c:pt idx="7">
                  <c:v>86</c:v>
                </c:pt>
                <c:pt idx="8">
                  <c:v>82</c:v>
                </c:pt>
                <c:pt idx="9">
                  <c:v>72</c:v>
                </c:pt>
              </c:numCache>
            </c:numRef>
          </c:val>
        </c:ser>
        <c:dLbls>
          <c:numFmt formatCode="#,##0" sourceLinked="0"/>
          <c:txPr>
            <a:bodyPr/>
            <a:lstStyle/>
            <a:p>
              <a:pPr>
                <a:defRPr b="0" i="0" strike="noStrike" sz="1100" u="none">
                  <a:solidFill>
                    <a:srgbClr val="13202F"/>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3202F"/>
                </a:solidFill>
                <a:latin typeface="Calibri"/>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Assignment 3 covers the development process, technology selection, Git and GitHub, CI/CD and scientific software. The practical part is the dissertation prototype: an intelligent system that verifies employee KPI reports with an LLM and computer vision. Everything shown is in one public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framework activities exist in every methodology; models differ in how they order and repeat them. Waterfall and V-model suit fixed requirements and regulated domains, Spiral adds risk analysis, iterative and incremental models fit research where requirements emerge from experiments, Agile frameworks add short feedback loops. For a single-researcher project with changing requirements we combined iterative-incremental development with a Kanban-style flow and MoSCoW priorities.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 names four criteria: performance, scalability, community support and compatibility. Research software adds privacy, reproducibility, licence and testability. For each criterion the second line shows what it meant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decision lists alternatives. Python for the ecosystem, FastAPI for typed requests and OpenAPI, Ollama with open-weight gpt-oss for on-premises reproducible inference with schema-constrained JSON, classical OpenCV checks because they are explainable, React with Material UI for a themeable accessible interface, ruff and ESLint for quality, Docker for a single artefact.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Distributed systems keep the whole history on every machine, so commits and branching work offline. Git wins on speed, cheap branches and ecosystem. GitHub adds pull requests, issues, Actions, Dependabot and CodeQL around Git. We used GitHub Flow: short-lived topic branches merged into a deployable main after automated checks.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history is a sequence of topic branches merged into main with merge commits, so the work of each increment stays visible in the network graph. Issues carry user stories with MoSCoW labels, pull requests use a checklist template, and the v1.0.0 tag triggers the release workflow. The repository is published by the prepared bootstrap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integration merges often and verifies each merge with an automated build and tests. Continuous delivery keeps every change deployable; production release is a manual decision. Continuous deployment releases validated changes automatically. We chose GitHub Actions because it lives next to the code and is free for public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and every pull request runs backend lint and tests on three Python versions, frontend lint, tests and build, and a Docker build with a health smoke test. A version tag re-runs the whole CI and then publishes the image to GHCR and creates a GitHub Release with the frontend build and the report. The LLM cannot run on a free runner, so its client is replaced by a test double and the pipeline verifies all code around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software has incomplete and changing requirements and its results are scientific evidence, so reproducibility, transparency and efficiency come first. Environments are controlled with virtual environments, lock files and containers. Libraries should be maintained and openly licensed. Our reproducibility measures target the typical threats from the lecture: non-determinism, model and prompt drift, dependency drift and documentation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is treated as an untrusted component. Tables are parsed without it. Achievements must carry verbatim quotes; indicator identifiers are schema enums; each condition of an indicator needs its own quote that the code re-checks, and the code decides whether all conditions hold. Quantities and percentages are computed by code, and damaged or edited images are never counted automatically.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client is a thin replaceable module, so tests inject a fake and verify all logic around the model. Backend: 115 pytest tests with 91 percent coverage. Frontend: 53 Vitest and Testing Library tests with 89 percent coverage. The live run on the real university regulation gave 87.5 percent for the sample professor report; the Q4 article and the chess club were correctly not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 covered the whole path from organising the process to a tested, containerised and documented module. The hardest problem was keeping an LLM strict: a live run showed that a boolean returned by the model is unreliable, which motivated per-condition grounding and a code-enforced quantity floor. Limitations: heuristic forgery detection, no large real evaluation set yet. The repository and workflow links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1B2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rgbClr val="0F1B2D"/>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3" name="Text 0"/>
          <p:cNvSpPr/>
          <p:nvPr/>
        </p:nvSpPr>
        <p:spPr>
          <a:xfrm>
            <a:off x="548640" y="6446520"/>
            <a:ext cx="5486400" cy="274320"/>
          </a:xfrm>
          <a:prstGeom prst="rect">
            <a:avLst/>
          </a:prstGeom>
          <a:noFill/>
          <a:ln/>
        </p:spPr>
        <p:txBody>
          <a:bodyPr wrap="square" lIns="0" tIns="0" rIns="0" bIns="0" rtlCol="0" anchor="ctr"/>
          <a:lstStyle/>
          <a:p>
            <a:pPr indent="0" marL="0">
              <a:buNone/>
            </a:pPr>
            <a:r>
              <a:rPr lang="en-US" sz="1000" dirty="0">
                <a:solidFill>
                  <a:srgbClr val="5B6778"/>
                </a:solidFill>
                <a:latin typeface="Calibri" pitchFamily="34" charset="0"/>
                <a:ea typeface="Calibri" pitchFamily="34" charset="-122"/>
                <a:cs typeface="Calibri" pitchFamily="34" charset="-120"/>
              </a:rPr>
              <a:t>Intelligent KPI Evaluation  |  Assignment 3</a:t>
            </a:r>
            <a:endParaRPr lang="en-US" sz="10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rgbClr val="0F1B2D"/>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400" b="1" dirty="0">
                <a:solidFill>
                  <a:srgbClr val="FFFFFF"/>
                </a:solidFill>
                <a:latin typeface="Cambria" pitchFamily="34" charset="0"/>
                <a:ea typeface="Cambria" pitchFamily="34" charset="-122"/>
                <a:cs typeface="Cambria" pitchFamily="34" charset="-120"/>
              </a:defRPr>
            </a:lvl1pPr>
          </a:lstStyle>
          <a:p>
            <a:pPr indent="0" marL="0">
              <a:buNone/>
            </a:pPr>
            <a:endParaRPr lang="en-US" sz="3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C2"/>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github.com/OrazovTairlan/asdp_dissertation" TargetMode="Externa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github.com/OrazovTairlan/asdp_dissertation/blob/main/.github/workflows/ci.yml" TargetMode="External"/><Relationship Id="rId2" Type="http://schemas.openxmlformats.org/officeDocument/2006/relationships/hyperlink" Target="https://github.com/OrazovTairlan/asdp_dissertation/blob/main/.github/workflows/release.yml" TargetMode="External"/><Relationship Id="rId3" Type="http://schemas.openxmlformats.org/officeDocument/2006/relationships/hyperlink" Target="https://github.com/OrazovTairlan/asdp_dissertation/blob/main/.github/workflows/codeql.yml" TargetMode="External"/><Relationship Id="rId4" Type="http://schemas.openxmlformats.org/officeDocument/2006/relationships/slideLayout" Target="../slideLayouts/slideLayout3.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11-1.png"/><Relationship Id="rId3" Type="http://schemas.openxmlformats.org/officeDocument/2006/relationships/slideLayout" Target="../slideLayouts/slideLayout3.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github.com/OrazovTairlan/asdp_dissertation" TargetMode="External"/><Relationship Id="rId2" Type="http://schemas.openxmlformats.org/officeDocument/2006/relationships/hyperlink" Target="https://github.com/OrazovTairlan/asdp_dissertation/blob/main/.github/workflows/ci.yml" TargetMode="External"/><Relationship Id="rId3" Type="http://schemas.openxmlformats.org/officeDocument/2006/relationships/hyperlink" Target="https://github.com/OrazovTairlan/asdp_dissertation/blob/main/.github/workflows/release.yml" TargetMode="External"/><Relationship Id="rId4" Type="http://schemas.openxmlformats.org/officeDocument/2006/relationships/hyperlink" Target="https://github.com/OrazovTairlan/asdp_dissertation/blob/main/.github/workflows/codeql.yml" TargetMode="External"/><Relationship Id="rId5" Type="http://schemas.openxmlformats.org/officeDocument/2006/relationships/hyperlink" Target="https://github.com/OrazovTairlan/asdp_dissertation/blob/main/docs/PROMPTS.md" TargetMode="External"/><Relationship Id="rId6" Type="http://schemas.openxmlformats.org/officeDocument/2006/relationships/hyperlink" Target="https://github.com/OrazovTairlan/asdp_dissertation/blob/main/docs/ARCHITECTURE.md" TargetMode="External"/><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Kicker"/>
          <p:cNvSpPr txBox="1"/>
          <p:nvPr/>
        </p:nvSpPr>
        <p:spPr>
          <a:xfrm>
            <a:off x="731520" y="1188720"/>
            <a:ext cx="10058400" cy="365760"/>
          </a:xfrm>
          <a:prstGeom prst="rect">
            <a:avLst/>
          </a:prstGeom>
          <a:noFill/>
          <a:ln/>
        </p:spPr>
        <p:txBody>
          <a:bodyPr wrap="square" lIns="0" tIns="0" rIns="0" bIns="0" rtlCol="0" anchor="ctr"/>
          <a:lstStyle/>
          <a:p>
            <a:pPr indent="0" marL="0">
              <a:buNone/>
            </a:pPr>
            <a:r>
              <a:rPr lang="en-US" sz="1600" b="1" spc="200" kern="0" dirty="0">
                <a:solidFill>
                  <a:srgbClr val="F5A524"/>
                </a:solidFill>
                <a:latin typeface="Calibri" pitchFamily="34" charset="0"/>
                <a:ea typeface="Calibri" pitchFamily="34" charset="-122"/>
                <a:cs typeface="Calibri" pitchFamily="34" charset="-120"/>
              </a:rPr>
              <a:t>ASSIGNMENT 3  |  SOFTWARE DEVELOPMENT AND INTEGRATION</a:t>
            </a:r>
            <a:endParaRPr lang="en-US" sz="1600" dirty="0"/>
          </a:p>
        </p:txBody>
      </p:sp>
      <p:sp>
        <p:nvSpPr>
          <p:cNvPr id="4" name="Title"/>
          <p:cNvSpPr txBox="1"/>
          <p:nvPr/>
        </p:nvSpPr>
        <p:spPr>
          <a:xfrm>
            <a:off x="731520" y="1737360"/>
            <a:ext cx="7863840" cy="18288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Building a verifiable KPI evaluation system</a:t>
            </a:r>
            <a:endParaRPr lang="en-US" sz="4800" dirty="0"/>
          </a:p>
        </p:txBody>
      </p:sp>
      <p:sp>
        <p:nvSpPr>
          <p:cNvPr id="5" name="Subtitle"/>
          <p:cNvSpPr txBox="1"/>
          <p:nvPr/>
        </p:nvSpPr>
        <p:spPr>
          <a:xfrm>
            <a:off x="731520" y="3794760"/>
            <a:ext cx="7498080" cy="822960"/>
          </a:xfrm>
          <a:prstGeom prst="rect">
            <a:avLst/>
          </a:prstGeom>
          <a:noFill/>
          <a:ln/>
        </p:spPr>
        <p:txBody>
          <a:bodyPr wrap="square" lIns="0" tIns="0" rIns="0" bIns="0" rtlCol="0" anchor="t"/>
          <a:lstStyle/>
          <a:p>
            <a:pPr indent="0" marL="0">
              <a:buNone/>
            </a:pPr>
            <a:r>
              <a:rPr lang="en-US" sz="2000" dirty="0">
                <a:solidFill>
                  <a:srgbClr val="C9D3E0"/>
                </a:solidFill>
                <a:latin typeface="Calibri" pitchFamily="34" charset="0"/>
                <a:ea typeface="Calibri" pitchFamily="34" charset="-122"/>
                <a:cs typeface="Calibri" pitchFamily="34" charset="-120"/>
              </a:rPr>
              <a:t>NLP + computer vision, Git/GitHub, CI/CD and reproducible research software</a:t>
            </a:r>
            <a:endParaRPr lang="en-US" sz="2000" dirty="0"/>
          </a:p>
        </p:txBody>
      </p:sp>
      <p:sp>
        <p:nvSpPr>
          <p:cNvPr id="6" name="Author"/>
          <p:cNvSpPr txBox="1"/>
          <p:nvPr/>
        </p:nvSpPr>
        <p:spPr>
          <a:xfrm>
            <a:off x="731520" y="5212080"/>
            <a:ext cx="6400800" cy="731520"/>
          </a:xfrm>
          <a:prstGeom prst="rect">
            <a:avLst/>
          </a:prstGeom>
          <a:noFill/>
          <a:ln/>
        </p:spPr>
        <p:txBody>
          <a:bodyPr wrap="square" lIns="0" tIns="0" rIns="0" bIns="0" rtlCol="0" anchor="ctr"/>
          <a:lstStyle/>
          <a:p>
            <a:pPr indent="0" marL="0">
              <a:spcAft>
                <a:spcPts val="400"/>
              </a:spcAft>
              <a:buNone/>
            </a:pPr>
            <a:r>
              <a:rPr lang="en-US" sz="1600" b="1" dirty="0">
                <a:solidFill>
                  <a:srgbClr val="C9D3E0"/>
                </a:solidFill>
                <a:latin typeface="Calibri" pitchFamily="34" charset="0"/>
                <a:ea typeface="Calibri" pitchFamily="34" charset="-122"/>
                <a:cs typeface="Calibri" pitchFamily="34" charset="-120"/>
              </a:rPr>
              <a:t>OrazovTairlan</a:t>
            </a:r>
            <a:endParaRPr lang="en-US" sz="1600" dirty="0"/>
          </a:p>
          <a:p>
            <a:pPr indent="0" marL="0">
              <a:spcAft>
                <a:spcPts val="400"/>
              </a:spcAft>
              <a:buNone/>
            </a:pPr>
            <a:r>
              <a:rPr lang="en-US" sz="1600" dirty="0">
                <a:solidFill>
                  <a:srgbClr val="C9D3E0"/>
                </a:solidFill>
                <a:latin typeface="Calibri" pitchFamily="34" charset="0"/>
                <a:ea typeface="Calibri" pitchFamily="34" charset="-122"/>
                <a:cs typeface="Calibri" pitchFamily="34" charset="-120"/>
              </a:rPr>
              <a:t>Applied Software Development Project, Astana IT University, 2026</a:t>
            </a:r>
            <a:endParaRPr lang="en-US" sz="1600" dirty="0"/>
          </a:p>
        </p:txBody>
      </p:sp>
      <p:sp>
        <p:nvSpPr>
          <p:cNvPr id="7" name="Repository"/>
          <p:cNvSpPr txBox="1"/>
          <p:nvPr/>
        </p:nvSpPr>
        <p:spPr>
          <a:xfrm>
            <a:off x="731520" y="6035040"/>
            <a:ext cx="7315200" cy="365760"/>
          </a:xfrm>
          <a:prstGeom prst="rect">
            <a:avLst/>
          </a:prstGeom>
          <a:noFill/>
          <a:ln/>
        </p:spPr>
        <p:txBody>
          <a:bodyPr wrap="square" lIns="0" tIns="0" rIns="0" bIns="0" rtlCol="0" anchor="ctr"/>
          <a:lstStyle/>
          <a:p>
            <a:pPr indent="0" marL="0">
              <a:buNone/>
            </a:pPr>
            <a:r>
              <a:rPr lang="en-US" sz="1400" u="sng" dirty="0">
                <a:solidFill>
                  <a:srgbClr val="7FE0D3"/>
                </a:solidFill>
                <a:latin typeface="Calibri" pitchFamily="34" charset="0"/>
                <a:ea typeface="Calibri" pitchFamily="34" charset="-122"/>
                <a:cs typeface="Calibri" pitchFamily="34" charset="-120"/>
                <a:hlinkClick r:id="rId1" invalidUrl="" action="" tgtFrame="" tooltip="https://github.com/OrazovTairlan/asdp_dissertation" history="1" highlightClick="0" endSnd="0">
                  <a:extLst>
                    <a:ext uri="{A12FA001-AC4F-418D-AE19-62706E023703}">
                      <ahyp:hlinkClr xmlns:ahyp="http://schemas.microsoft.com/office/drawing/2018/hyperlinkcolor" val="tx"/>
                    </a:ext>
                  </a:extLst>
                </a:hlinkClick>
              </a:rPr>
              <a:t>github.com/OrazovTairlan/asdp_dissertation</a:t>
            </a:r>
            <a:endParaRPr lang="en-US" sz="1400" dirty="0"/>
          </a:p>
        </p:txBody>
      </p:sp>
      <p:sp>
        <p:nvSpPr>
          <p:cNvPr id="8" name="Stat 1"/>
          <p:cNvSpPr/>
          <p:nvPr/>
        </p:nvSpPr>
        <p:spPr>
          <a:xfrm>
            <a:off x="8869680" y="1737360"/>
            <a:ext cx="2743200" cy="1188720"/>
          </a:xfrm>
          <a:prstGeom prst="roundRect">
            <a:avLst>
              <a:gd name="adj" fmla="val 9231"/>
            </a:avLst>
          </a:prstGeom>
          <a:solidFill>
            <a:srgbClr val="1B2C44"/>
          </a:solidFill>
          <a:ln w="9525">
            <a:solidFill>
              <a:srgbClr val="2C4160"/>
            </a:solidFill>
            <a:prstDash val="solid"/>
          </a:ln>
        </p:spPr>
      </p:sp>
      <p:sp>
        <p:nvSpPr>
          <p:cNvPr id="9" name="Stat 1 value"/>
          <p:cNvSpPr txBox="1"/>
          <p:nvPr/>
        </p:nvSpPr>
        <p:spPr>
          <a:xfrm>
            <a:off x="8869680" y="1874520"/>
            <a:ext cx="2743200" cy="548640"/>
          </a:xfrm>
          <a:prstGeom prst="rect">
            <a:avLst/>
          </a:prstGeom>
          <a:noFill/>
          <a:ln/>
        </p:spPr>
        <p:txBody>
          <a:bodyPr wrap="square" lIns="0" tIns="0" rIns="0" bIns="0" rtlCol="0" anchor="ctr"/>
          <a:lstStyle/>
          <a:p>
            <a:pPr algn="ctr" indent="0" marL="0">
              <a:buNone/>
            </a:pPr>
            <a:r>
              <a:rPr lang="en-US" sz="2800" b="1" dirty="0">
                <a:solidFill>
                  <a:srgbClr val="5EEAD4"/>
                </a:solidFill>
                <a:latin typeface="Cambria" pitchFamily="34" charset="0"/>
                <a:ea typeface="Cambria" pitchFamily="34" charset="-122"/>
                <a:cs typeface="Cambria" pitchFamily="34" charset="-120"/>
              </a:rPr>
              <a:t>115 + 53</a:t>
            </a:r>
            <a:endParaRPr lang="en-US" sz="2800" dirty="0"/>
          </a:p>
        </p:txBody>
      </p:sp>
      <p:sp>
        <p:nvSpPr>
          <p:cNvPr id="10" name="Stat 1 label"/>
          <p:cNvSpPr txBox="1"/>
          <p:nvPr/>
        </p:nvSpPr>
        <p:spPr>
          <a:xfrm>
            <a:off x="8961120" y="2450592"/>
            <a:ext cx="2560320" cy="365760"/>
          </a:xfrm>
          <a:prstGeom prst="rect">
            <a:avLst/>
          </a:prstGeom>
          <a:noFill/>
          <a:ln/>
        </p:spPr>
        <p:txBody>
          <a:bodyPr wrap="square" lIns="0" tIns="0" rIns="0" bIns="0" rtlCol="0" anchor="ctr"/>
          <a:lstStyle/>
          <a:p>
            <a:pPr algn="ctr" indent="0" marL="0">
              <a:buNone/>
            </a:pPr>
            <a:r>
              <a:rPr lang="en-US" sz="1400" dirty="0">
                <a:solidFill>
                  <a:srgbClr val="C9D3E0"/>
                </a:solidFill>
                <a:latin typeface="Calibri" pitchFamily="34" charset="0"/>
                <a:ea typeface="Calibri" pitchFamily="34" charset="-122"/>
                <a:cs typeface="Calibri" pitchFamily="34" charset="-120"/>
              </a:rPr>
              <a:t>automated tests</a:t>
            </a:r>
            <a:endParaRPr lang="en-US" sz="1400" dirty="0"/>
          </a:p>
        </p:txBody>
      </p:sp>
      <p:sp>
        <p:nvSpPr>
          <p:cNvPr id="11" name="Stat 2"/>
          <p:cNvSpPr/>
          <p:nvPr/>
        </p:nvSpPr>
        <p:spPr>
          <a:xfrm>
            <a:off x="8869680" y="3154680"/>
            <a:ext cx="2743200" cy="1188720"/>
          </a:xfrm>
          <a:prstGeom prst="roundRect">
            <a:avLst>
              <a:gd name="adj" fmla="val 9231"/>
            </a:avLst>
          </a:prstGeom>
          <a:solidFill>
            <a:srgbClr val="1B2C44"/>
          </a:solidFill>
          <a:ln w="9525">
            <a:solidFill>
              <a:srgbClr val="2C4160"/>
            </a:solidFill>
            <a:prstDash val="solid"/>
          </a:ln>
        </p:spPr>
      </p:sp>
      <p:sp>
        <p:nvSpPr>
          <p:cNvPr id="12" name="Stat 2 value"/>
          <p:cNvSpPr txBox="1"/>
          <p:nvPr/>
        </p:nvSpPr>
        <p:spPr>
          <a:xfrm>
            <a:off x="8869680" y="3291840"/>
            <a:ext cx="2743200" cy="548640"/>
          </a:xfrm>
          <a:prstGeom prst="rect">
            <a:avLst/>
          </a:prstGeom>
          <a:noFill/>
          <a:ln/>
        </p:spPr>
        <p:txBody>
          <a:bodyPr wrap="square" lIns="0" tIns="0" rIns="0" bIns="0" rtlCol="0" anchor="ctr"/>
          <a:lstStyle/>
          <a:p>
            <a:pPr algn="ctr" indent="0" marL="0">
              <a:buNone/>
            </a:pPr>
            <a:r>
              <a:rPr lang="en-US" sz="2800" b="1" dirty="0">
                <a:solidFill>
                  <a:srgbClr val="5EEAD4"/>
                </a:solidFill>
                <a:latin typeface="Cambria" pitchFamily="34" charset="0"/>
                <a:ea typeface="Cambria" pitchFamily="34" charset="-122"/>
                <a:cs typeface="Cambria" pitchFamily="34" charset="-120"/>
              </a:rPr>
              <a:t>91 % / 89 %</a:t>
            </a:r>
            <a:endParaRPr lang="en-US" sz="2800" dirty="0"/>
          </a:p>
        </p:txBody>
      </p:sp>
      <p:sp>
        <p:nvSpPr>
          <p:cNvPr id="13" name="Stat 2 label"/>
          <p:cNvSpPr txBox="1"/>
          <p:nvPr/>
        </p:nvSpPr>
        <p:spPr>
          <a:xfrm>
            <a:off x="8961120" y="3867912"/>
            <a:ext cx="2560320" cy="365760"/>
          </a:xfrm>
          <a:prstGeom prst="rect">
            <a:avLst/>
          </a:prstGeom>
          <a:noFill/>
          <a:ln/>
        </p:spPr>
        <p:txBody>
          <a:bodyPr wrap="square" lIns="0" tIns="0" rIns="0" bIns="0" rtlCol="0" anchor="ctr"/>
          <a:lstStyle/>
          <a:p>
            <a:pPr algn="ctr" indent="0" marL="0">
              <a:buNone/>
            </a:pPr>
            <a:r>
              <a:rPr lang="en-US" sz="1400" dirty="0">
                <a:solidFill>
                  <a:srgbClr val="C9D3E0"/>
                </a:solidFill>
                <a:latin typeface="Calibri" pitchFamily="34" charset="0"/>
                <a:ea typeface="Calibri" pitchFamily="34" charset="-122"/>
                <a:cs typeface="Calibri" pitchFamily="34" charset="-120"/>
              </a:rPr>
              <a:t>backend / frontend coverage</a:t>
            </a:r>
            <a:endParaRPr lang="en-US" sz="1400" dirty="0"/>
          </a:p>
        </p:txBody>
      </p:sp>
      <p:sp>
        <p:nvSpPr>
          <p:cNvPr id="14" name="Stat 3"/>
          <p:cNvSpPr/>
          <p:nvPr/>
        </p:nvSpPr>
        <p:spPr>
          <a:xfrm>
            <a:off x="8869680" y="4572000"/>
            <a:ext cx="2743200" cy="1188720"/>
          </a:xfrm>
          <a:prstGeom prst="roundRect">
            <a:avLst>
              <a:gd name="adj" fmla="val 9231"/>
            </a:avLst>
          </a:prstGeom>
          <a:solidFill>
            <a:srgbClr val="1B2C44"/>
          </a:solidFill>
          <a:ln w="9525">
            <a:solidFill>
              <a:srgbClr val="2C4160"/>
            </a:solidFill>
            <a:prstDash val="solid"/>
          </a:ln>
        </p:spPr>
      </p:sp>
      <p:sp>
        <p:nvSpPr>
          <p:cNvPr id="15" name="Stat 3 value"/>
          <p:cNvSpPr txBox="1"/>
          <p:nvPr/>
        </p:nvSpPr>
        <p:spPr>
          <a:xfrm>
            <a:off x="8869680" y="4709160"/>
            <a:ext cx="2743200" cy="548640"/>
          </a:xfrm>
          <a:prstGeom prst="rect">
            <a:avLst/>
          </a:prstGeom>
          <a:noFill/>
          <a:ln/>
        </p:spPr>
        <p:txBody>
          <a:bodyPr wrap="square" lIns="0" tIns="0" rIns="0" bIns="0" rtlCol="0" anchor="ctr"/>
          <a:lstStyle/>
          <a:p>
            <a:pPr algn="ctr" indent="0" marL="0">
              <a:buNone/>
            </a:pPr>
            <a:r>
              <a:rPr lang="en-US" sz="2800" b="1" dirty="0">
                <a:solidFill>
                  <a:srgbClr val="5EEAD4"/>
                </a:solidFill>
                <a:latin typeface="Cambria" pitchFamily="34" charset="0"/>
                <a:ea typeface="Cambria" pitchFamily="34" charset="-122"/>
                <a:cs typeface="Cambria" pitchFamily="34" charset="-120"/>
              </a:rPr>
              <a:t>3</a:t>
            </a:r>
            <a:endParaRPr lang="en-US" sz="2800" dirty="0"/>
          </a:p>
        </p:txBody>
      </p:sp>
      <p:sp>
        <p:nvSpPr>
          <p:cNvPr id="16" name="Stat 3 label"/>
          <p:cNvSpPr txBox="1"/>
          <p:nvPr/>
        </p:nvSpPr>
        <p:spPr>
          <a:xfrm>
            <a:off x="8961120" y="5285232"/>
            <a:ext cx="2560320" cy="365760"/>
          </a:xfrm>
          <a:prstGeom prst="rect">
            <a:avLst/>
          </a:prstGeom>
          <a:noFill/>
          <a:ln/>
        </p:spPr>
        <p:txBody>
          <a:bodyPr wrap="square" lIns="0" tIns="0" rIns="0" bIns="0" rtlCol="0" anchor="ctr"/>
          <a:lstStyle/>
          <a:p>
            <a:pPr algn="ctr" indent="0" marL="0">
              <a:buNone/>
            </a:pPr>
            <a:r>
              <a:rPr lang="en-US" sz="1400" dirty="0">
                <a:solidFill>
                  <a:srgbClr val="C9D3E0"/>
                </a:solidFill>
                <a:latin typeface="Calibri" pitchFamily="34" charset="0"/>
                <a:ea typeface="Calibri" pitchFamily="34" charset="-122"/>
                <a:cs typeface="Calibri" pitchFamily="34" charset="-120"/>
              </a:rPr>
              <a:t>GitHub Actions workflows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Stages and organisation of the process</a:t>
            </a:r>
            <a:endParaRPr lang="en-US" sz="3400" dirty="0"/>
          </a:p>
        </p:txBody>
      </p:sp>
      <p:sp>
        <p:nvSpPr>
          <p:cNvPr id="4" name="Stage 1"/>
          <p:cNvSpPr/>
          <p:nvPr/>
        </p:nvSpPr>
        <p:spPr>
          <a:xfrm>
            <a:off x="548640" y="1371600"/>
            <a:ext cx="1783080" cy="777240"/>
          </a:xfrm>
          <a:prstGeom prst="chevron">
            <a:avLst/>
          </a:prstGeom>
          <a:solidFill>
            <a:srgbClr val="0B7A6E"/>
          </a:solidFill>
          <a:ln w="12700">
            <a:solidFill>
              <a:srgbClr val="FFFFFF"/>
            </a:solidFill>
            <a:prstDash val="solid"/>
          </a:ln>
        </p:spPr>
      </p:sp>
      <p:sp>
        <p:nvSpPr>
          <p:cNvPr id="5" name="Stage 1 label"/>
          <p:cNvSpPr txBox="1"/>
          <p:nvPr/>
        </p:nvSpPr>
        <p:spPr>
          <a:xfrm>
            <a:off x="8686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Requirements</a:t>
            </a:r>
            <a:endParaRPr lang="en-US" sz="1300" dirty="0"/>
          </a:p>
        </p:txBody>
      </p:sp>
      <p:sp>
        <p:nvSpPr>
          <p:cNvPr id="6" name="Stage 2"/>
          <p:cNvSpPr/>
          <p:nvPr/>
        </p:nvSpPr>
        <p:spPr>
          <a:xfrm>
            <a:off x="2148840" y="1371600"/>
            <a:ext cx="1783080" cy="777240"/>
          </a:xfrm>
          <a:prstGeom prst="chevron">
            <a:avLst/>
          </a:prstGeom>
          <a:solidFill>
            <a:srgbClr val="0E9F8E"/>
          </a:solidFill>
          <a:ln w="12700">
            <a:solidFill>
              <a:srgbClr val="FFFFFF"/>
            </a:solidFill>
            <a:prstDash val="solid"/>
          </a:ln>
        </p:spPr>
      </p:sp>
      <p:sp>
        <p:nvSpPr>
          <p:cNvPr id="7" name="Stage 2 label"/>
          <p:cNvSpPr txBox="1"/>
          <p:nvPr/>
        </p:nvSpPr>
        <p:spPr>
          <a:xfrm>
            <a:off x="24688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Planning</a:t>
            </a:r>
            <a:endParaRPr lang="en-US" sz="1300" dirty="0"/>
          </a:p>
        </p:txBody>
      </p:sp>
      <p:sp>
        <p:nvSpPr>
          <p:cNvPr id="8" name="Stage 3"/>
          <p:cNvSpPr/>
          <p:nvPr/>
        </p:nvSpPr>
        <p:spPr>
          <a:xfrm>
            <a:off x="3749040" y="1371600"/>
            <a:ext cx="1783080" cy="777240"/>
          </a:xfrm>
          <a:prstGeom prst="chevron">
            <a:avLst/>
          </a:prstGeom>
          <a:solidFill>
            <a:srgbClr val="0B7A6E"/>
          </a:solidFill>
          <a:ln w="12700">
            <a:solidFill>
              <a:srgbClr val="FFFFFF"/>
            </a:solidFill>
            <a:prstDash val="solid"/>
          </a:ln>
        </p:spPr>
      </p:sp>
      <p:sp>
        <p:nvSpPr>
          <p:cNvPr id="9" name="Stage 3 label"/>
          <p:cNvSpPr txBox="1"/>
          <p:nvPr/>
        </p:nvSpPr>
        <p:spPr>
          <a:xfrm>
            <a:off x="40690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Design</a:t>
            </a:r>
            <a:endParaRPr lang="en-US" sz="1300" dirty="0"/>
          </a:p>
        </p:txBody>
      </p:sp>
      <p:sp>
        <p:nvSpPr>
          <p:cNvPr id="10" name="Stage 4"/>
          <p:cNvSpPr/>
          <p:nvPr/>
        </p:nvSpPr>
        <p:spPr>
          <a:xfrm>
            <a:off x="5349240" y="1371600"/>
            <a:ext cx="1783080" cy="777240"/>
          </a:xfrm>
          <a:prstGeom prst="chevron">
            <a:avLst/>
          </a:prstGeom>
          <a:solidFill>
            <a:srgbClr val="0E9F8E"/>
          </a:solidFill>
          <a:ln w="12700">
            <a:solidFill>
              <a:srgbClr val="FFFFFF"/>
            </a:solidFill>
            <a:prstDash val="solid"/>
          </a:ln>
        </p:spPr>
      </p:sp>
      <p:sp>
        <p:nvSpPr>
          <p:cNvPr id="11" name="Stage 4 label"/>
          <p:cNvSpPr txBox="1"/>
          <p:nvPr/>
        </p:nvSpPr>
        <p:spPr>
          <a:xfrm>
            <a:off x="56692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Construction</a:t>
            </a:r>
            <a:endParaRPr lang="en-US" sz="1300" dirty="0"/>
          </a:p>
        </p:txBody>
      </p:sp>
      <p:sp>
        <p:nvSpPr>
          <p:cNvPr id="12" name="Stage 5"/>
          <p:cNvSpPr/>
          <p:nvPr/>
        </p:nvSpPr>
        <p:spPr>
          <a:xfrm>
            <a:off x="6949440" y="1371600"/>
            <a:ext cx="1783080" cy="777240"/>
          </a:xfrm>
          <a:prstGeom prst="chevron">
            <a:avLst/>
          </a:prstGeom>
          <a:solidFill>
            <a:srgbClr val="0B7A6E"/>
          </a:solidFill>
          <a:ln w="12700">
            <a:solidFill>
              <a:srgbClr val="FFFFFF"/>
            </a:solidFill>
            <a:prstDash val="solid"/>
          </a:ln>
        </p:spPr>
      </p:sp>
      <p:sp>
        <p:nvSpPr>
          <p:cNvPr id="13" name="Stage 5 label"/>
          <p:cNvSpPr txBox="1"/>
          <p:nvPr/>
        </p:nvSpPr>
        <p:spPr>
          <a:xfrm>
            <a:off x="72694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Testing</a:t>
            </a:r>
            <a:endParaRPr lang="en-US" sz="1300" dirty="0"/>
          </a:p>
        </p:txBody>
      </p:sp>
      <p:sp>
        <p:nvSpPr>
          <p:cNvPr id="14" name="Stage 6"/>
          <p:cNvSpPr/>
          <p:nvPr/>
        </p:nvSpPr>
        <p:spPr>
          <a:xfrm>
            <a:off x="8549640" y="1371600"/>
            <a:ext cx="1783080" cy="777240"/>
          </a:xfrm>
          <a:prstGeom prst="chevron">
            <a:avLst/>
          </a:prstGeom>
          <a:solidFill>
            <a:srgbClr val="0E9F8E"/>
          </a:solidFill>
          <a:ln w="12700">
            <a:solidFill>
              <a:srgbClr val="FFFFFF"/>
            </a:solidFill>
            <a:prstDash val="solid"/>
          </a:ln>
        </p:spPr>
      </p:sp>
      <p:sp>
        <p:nvSpPr>
          <p:cNvPr id="15" name="Stage 6 label"/>
          <p:cNvSpPr txBox="1"/>
          <p:nvPr/>
        </p:nvSpPr>
        <p:spPr>
          <a:xfrm>
            <a:off x="88696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Deployment</a:t>
            </a:r>
            <a:endParaRPr lang="en-US" sz="1300" dirty="0"/>
          </a:p>
        </p:txBody>
      </p:sp>
      <p:sp>
        <p:nvSpPr>
          <p:cNvPr id="16" name="Stage 7"/>
          <p:cNvSpPr/>
          <p:nvPr/>
        </p:nvSpPr>
        <p:spPr>
          <a:xfrm>
            <a:off x="10149840" y="1371600"/>
            <a:ext cx="1783080" cy="777240"/>
          </a:xfrm>
          <a:prstGeom prst="chevron">
            <a:avLst/>
          </a:prstGeom>
          <a:solidFill>
            <a:srgbClr val="0B7A6E"/>
          </a:solidFill>
          <a:ln w="12700">
            <a:solidFill>
              <a:srgbClr val="FFFFFF"/>
            </a:solidFill>
            <a:prstDash val="solid"/>
          </a:ln>
        </p:spPr>
      </p:sp>
      <p:sp>
        <p:nvSpPr>
          <p:cNvPr id="17" name="Stage 7 label"/>
          <p:cNvSpPr txBox="1"/>
          <p:nvPr/>
        </p:nvSpPr>
        <p:spPr>
          <a:xfrm>
            <a:off x="10469880" y="1371600"/>
            <a:ext cx="128016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Maintenance</a:t>
            </a:r>
            <a:endParaRPr lang="en-US" sz="1300" dirty="0"/>
          </a:p>
        </p:txBody>
      </p:sp>
      <p:sp>
        <p:nvSpPr>
          <p:cNvPr id="18" name="Model 1"/>
          <p:cNvSpPr/>
          <p:nvPr/>
        </p:nvSpPr>
        <p:spPr>
          <a:xfrm>
            <a:off x="548640" y="2514600"/>
            <a:ext cx="2103120" cy="1920240"/>
          </a:xfrm>
          <a:prstGeom prst="roundRect">
            <a:avLst>
              <a:gd name="adj" fmla="val 5714"/>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9" name="Model 1 title"/>
          <p:cNvSpPr txBox="1"/>
          <p:nvPr/>
        </p:nvSpPr>
        <p:spPr>
          <a:xfrm>
            <a:off x="685800" y="2651760"/>
            <a:ext cx="1828800" cy="59436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Waterfall</a:t>
            </a:r>
            <a:endParaRPr lang="en-US" sz="1600" dirty="0"/>
          </a:p>
        </p:txBody>
      </p:sp>
      <p:sp>
        <p:nvSpPr>
          <p:cNvPr id="20" name="Model 1 text"/>
          <p:cNvSpPr txBox="1"/>
          <p:nvPr/>
        </p:nvSpPr>
        <p:spPr>
          <a:xfrm>
            <a:off x="685800" y="3291840"/>
            <a:ext cx="1828800" cy="1005840"/>
          </a:xfrm>
          <a:prstGeom prst="rect">
            <a:avLst/>
          </a:prstGeom>
          <a:noFill/>
          <a:ln/>
        </p:spPr>
        <p:txBody>
          <a:bodyPr wrap="square" lIns="0" tIns="0" rIns="0" bIns="0" rtlCol="0" anchor="t"/>
          <a:lstStyle/>
          <a:p>
            <a:pPr indent="0" marL="0">
              <a:buNone/>
            </a:pPr>
            <a:r>
              <a:rPr lang="en-US" sz="1400" dirty="0">
                <a:solidFill>
                  <a:srgbClr val="5B6778"/>
                </a:solidFill>
                <a:latin typeface="Calibri" pitchFamily="34" charset="0"/>
                <a:ea typeface="Calibri" pitchFamily="34" charset="-122"/>
                <a:cs typeface="Calibri" pitchFamily="34" charset="-120"/>
              </a:rPr>
              <a:t>Fixed requirements, formal documents</a:t>
            </a:r>
            <a:endParaRPr lang="en-US" sz="1400" dirty="0"/>
          </a:p>
        </p:txBody>
      </p:sp>
      <p:sp>
        <p:nvSpPr>
          <p:cNvPr id="21" name="Model 2"/>
          <p:cNvSpPr/>
          <p:nvPr/>
        </p:nvSpPr>
        <p:spPr>
          <a:xfrm>
            <a:off x="2788920" y="2514600"/>
            <a:ext cx="2103120" cy="1920240"/>
          </a:xfrm>
          <a:prstGeom prst="roundRect">
            <a:avLst>
              <a:gd name="adj" fmla="val 5714"/>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22" name="Model 2 title"/>
          <p:cNvSpPr txBox="1"/>
          <p:nvPr/>
        </p:nvSpPr>
        <p:spPr>
          <a:xfrm>
            <a:off x="2926080" y="2651760"/>
            <a:ext cx="1828800" cy="59436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V-model</a:t>
            </a:r>
            <a:endParaRPr lang="en-US" sz="1600" dirty="0"/>
          </a:p>
        </p:txBody>
      </p:sp>
      <p:sp>
        <p:nvSpPr>
          <p:cNvPr id="23" name="Model 2 text"/>
          <p:cNvSpPr txBox="1"/>
          <p:nvPr/>
        </p:nvSpPr>
        <p:spPr>
          <a:xfrm>
            <a:off x="2926080" y="3291840"/>
            <a:ext cx="1828800" cy="1005840"/>
          </a:xfrm>
          <a:prstGeom prst="rect">
            <a:avLst/>
          </a:prstGeom>
          <a:noFill/>
          <a:ln/>
        </p:spPr>
        <p:txBody>
          <a:bodyPr wrap="square" lIns="0" tIns="0" rIns="0" bIns="0" rtlCol="0" anchor="t"/>
          <a:lstStyle/>
          <a:p>
            <a:pPr indent="0" marL="0">
              <a:buNone/>
            </a:pPr>
            <a:r>
              <a:rPr lang="en-US" sz="1400" dirty="0">
                <a:solidFill>
                  <a:srgbClr val="5B6778"/>
                </a:solidFill>
                <a:latin typeface="Calibri" pitchFamily="34" charset="0"/>
                <a:ea typeface="Calibri" pitchFamily="34" charset="-122"/>
                <a:cs typeface="Calibri" pitchFamily="34" charset="-120"/>
              </a:rPr>
              <a:t>Every phase has a mirror test phase</a:t>
            </a:r>
            <a:endParaRPr lang="en-US" sz="1400" dirty="0"/>
          </a:p>
        </p:txBody>
      </p:sp>
      <p:sp>
        <p:nvSpPr>
          <p:cNvPr id="24" name="Model 3"/>
          <p:cNvSpPr/>
          <p:nvPr/>
        </p:nvSpPr>
        <p:spPr>
          <a:xfrm>
            <a:off x="5029200" y="2514600"/>
            <a:ext cx="2103120" cy="1920240"/>
          </a:xfrm>
          <a:prstGeom prst="roundRect">
            <a:avLst>
              <a:gd name="adj" fmla="val 5714"/>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25" name="Model 3 title"/>
          <p:cNvSpPr txBox="1"/>
          <p:nvPr/>
        </p:nvSpPr>
        <p:spPr>
          <a:xfrm>
            <a:off x="5166360" y="2651760"/>
            <a:ext cx="1828800" cy="59436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Spiral</a:t>
            </a:r>
            <a:endParaRPr lang="en-US" sz="1600" dirty="0"/>
          </a:p>
        </p:txBody>
      </p:sp>
      <p:sp>
        <p:nvSpPr>
          <p:cNvPr id="26" name="Model 3 text"/>
          <p:cNvSpPr txBox="1"/>
          <p:nvPr/>
        </p:nvSpPr>
        <p:spPr>
          <a:xfrm>
            <a:off x="5166360" y="3291840"/>
            <a:ext cx="1828800" cy="1005840"/>
          </a:xfrm>
          <a:prstGeom prst="rect">
            <a:avLst/>
          </a:prstGeom>
          <a:noFill/>
          <a:ln/>
        </p:spPr>
        <p:txBody>
          <a:bodyPr wrap="square" lIns="0" tIns="0" rIns="0" bIns="0" rtlCol="0" anchor="t"/>
          <a:lstStyle/>
          <a:p>
            <a:pPr indent="0" marL="0">
              <a:buNone/>
            </a:pPr>
            <a:r>
              <a:rPr lang="en-US" sz="1400" dirty="0">
                <a:solidFill>
                  <a:srgbClr val="5B6778"/>
                </a:solidFill>
                <a:latin typeface="Calibri" pitchFamily="34" charset="0"/>
                <a:ea typeface="Calibri" pitchFamily="34" charset="-122"/>
                <a:cs typeface="Calibri" pitchFamily="34" charset="-120"/>
              </a:rPr>
              <a:t>Risk analysis and prototypes per turn</a:t>
            </a:r>
            <a:endParaRPr lang="en-US" sz="1400" dirty="0"/>
          </a:p>
        </p:txBody>
      </p:sp>
      <p:sp>
        <p:nvSpPr>
          <p:cNvPr id="27" name="Model 4"/>
          <p:cNvSpPr/>
          <p:nvPr/>
        </p:nvSpPr>
        <p:spPr>
          <a:xfrm>
            <a:off x="7269480" y="2514600"/>
            <a:ext cx="2103120" cy="1920240"/>
          </a:xfrm>
          <a:prstGeom prst="roundRect">
            <a:avLst>
              <a:gd name="adj" fmla="val 5714"/>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28" name="Model 4 title"/>
          <p:cNvSpPr txBox="1"/>
          <p:nvPr/>
        </p:nvSpPr>
        <p:spPr>
          <a:xfrm>
            <a:off x="7406640" y="2651760"/>
            <a:ext cx="1828800" cy="59436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Iterative / incremental</a:t>
            </a:r>
            <a:endParaRPr lang="en-US" sz="1600" dirty="0"/>
          </a:p>
        </p:txBody>
      </p:sp>
      <p:sp>
        <p:nvSpPr>
          <p:cNvPr id="29" name="Model 4 text"/>
          <p:cNvSpPr txBox="1"/>
          <p:nvPr/>
        </p:nvSpPr>
        <p:spPr>
          <a:xfrm>
            <a:off x="7406640" y="3291840"/>
            <a:ext cx="1828800" cy="1005840"/>
          </a:xfrm>
          <a:prstGeom prst="rect">
            <a:avLst/>
          </a:prstGeom>
          <a:noFill/>
          <a:ln/>
        </p:spPr>
        <p:txBody>
          <a:bodyPr wrap="square" lIns="0" tIns="0" rIns="0" bIns="0" rtlCol="0" anchor="t"/>
          <a:lstStyle/>
          <a:p>
            <a:pPr indent="0" marL="0">
              <a:buNone/>
            </a:pPr>
            <a:r>
              <a:rPr lang="en-US" sz="1400" dirty="0">
                <a:solidFill>
                  <a:srgbClr val="5B6778"/>
                </a:solidFill>
                <a:latin typeface="Calibri" pitchFamily="34" charset="0"/>
                <a:ea typeface="Calibri" pitchFamily="34" charset="-122"/>
                <a:cs typeface="Calibri" pitchFamily="34" charset="-120"/>
              </a:rPr>
              <a:t>Requirements refined, functions added</a:t>
            </a:r>
            <a:endParaRPr lang="en-US" sz="1400" dirty="0"/>
          </a:p>
        </p:txBody>
      </p:sp>
      <p:sp>
        <p:nvSpPr>
          <p:cNvPr id="30" name="Model 5"/>
          <p:cNvSpPr/>
          <p:nvPr/>
        </p:nvSpPr>
        <p:spPr>
          <a:xfrm>
            <a:off x="9509760" y="2514600"/>
            <a:ext cx="2103120" cy="1920240"/>
          </a:xfrm>
          <a:prstGeom prst="roundRect">
            <a:avLst>
              <a:gd name="adj" fmla="val 5714"/>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31" name="Model 5 title"/>
          <p:cNvSpPr txBox="1"/>
          <p:nvPr/>
        </p:nvSpPr>
        <p:spPr>
          <a:xfrm>
            <a:off x="9646920" y="2651760"/>
            <a:ext cx="1828800" cy="59436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Agile: Scrum, Kanban</a:t>
            </a:r>
            <a:endParaRPr lang="en-US" sz="1600" dirty="0"/>
          </a:p>
        </p:txBody>
      </p:sp>
      <p:sp>
        <p:nvSpPr>
          <p:cNvPr id="32" name="Model 5 text"/>
          <p:cNvSpPr txBox="1"/>
          <p:nvPr/>
        </p:nvSpPr>
        <p:spPr>
          <a:xfrm>
            <a:off x="9646920" y="3291840"/>
            <a:ext cx="1828800" cy="1005840"/>
          </a:xfrm>
          <a:prstGeom prst="rect">
            <a:avLst/>
          </a:prstGeom>
          <a:noFill/>
          <a:ln/>
        </p:spPr>
        <p:txBody>
          <a:bodyPr wrap="square" lIns="0" tIns="0" rIns="0" bIns="0" rtlCol="0" anchor="t"/>
          <a:lstStyle/>
          <a:p>
            <a:pPr indent="0" marL="0">
              <a:buNone/>
            </a:pPr>
            <a:r>
              <a:rPr lang="en-US" sz="1400" dirty="0">
                <a:solidFill>
                  <a:srgbClr val="5B6778"/>
                </a:solidFill>
                <a:latin typeface="Calibri" pitchFamily="34" charset="0"/>
                <a:ea typeface="Calibri" pitchFamily="34" charset="-122"/>
                <a:cs typeface="Calibri" pitchFamily="34" charset="-120"/>
              </a:rPr>
              <a:t>Short sprints, visual flow, WIP limits</a:t>
            </a:r>
            <a:endParaRPr lang="en-US" sz="1400" dirty="0"/>
          </a:p>
        </p:txBody>
      </p:sp>
      <p:sp>
        <p:nvSpPr>
          <p:cNvPr id="33" name="Our choice"/>
          <p:cNvSpPr/>
          <p:nvPr/>
        </p:nvSpPr>
        <p:spPr>
          <a:xfrm>
            <a:off x="548640" y="4800600"/>
            <a:ext cx="11064240" cy="1325880"/>
          </a:xfrm>
          <a:prstGeom prst="roundRect">
            <a:avLst>
              <a:gd name="adj" fmla="val 8276"/>
            </a:avLst>
          </a:prstGeom>
          <a:solidFill>
            <a:srgbClr val="E3F5F2"/>
          </a:solidFill>
          <a:ln w="15875">
            <a:solidFill>
              <a:srgbClr val="0E9F8E"/>
            </a:solidFill>
            <a:prstDash val="solid"/>
          </a:ln>
        </p:spPr>
      </p:sp>
      <p:sp>
        <p:nvSpPr>
          <p:cNvPr id="34" name="Our choice text"/>
          <p:cNvSpPr txBox="1"/>
          <p:nvPr/>
        </p:nvSpPr>
        <p:spPr>
          <a:xfrm>
            <a:off x="777240" y="4846320"/>
            <a:ext cx="10607040" cy="1234440"/>
          </a:xfrm>
          <a:prstGeom prst="rect">
            <a:avLst/>
          </a:prstGeom>
          <a:noFill/>
          <a:ln/>
        </p:spPr>
        <p:txBody>
          <a:bodyPr wrap="square" lIns="0" tIns="0" rIns="0" bIns="0" rtlCol="0" anchor="ctr"/>
          <a:lstStyle/>
          <a:p>
            <a:pPr indent="0" marL="0">
              <a:buNone/>
            </a:pPr>
            <a:r>
              <a:rPr lang="en-US" sz="1600" b="1" dirty="0">
                <a:solidFill>
                  <a:srgbClr val="0B7A6E"/>
                </a:solidFill>
                <a:latin typeface="Calibri" pitchFamily="34" charset="0"/>
                <a:ea typeface="Calibri" pitchFamily="34" charset="-122"/>
                <a:cs typeface="Calibri" pitchFamily="34" charset="-120"/>
              </a:rPr>
              <a:t>Our choice: </a:t>
            </a:r>
            <a:pPr indent="0" marL="0">
              <a:buNone/>
            </a:pPr>
            <a:r>
              <a:rPr lang="en-US" sz="1600" dirty="0">
                <a:solidFill>
                  <a:srgbClr val="13202F"/>
                </a:solidFill>
                <a:latin typeface="Calibri" pitchFamily="34" charset="0"/>
                <a:ea typeface="Calibri" pitchFamily="34" charset="-122"/>
                <a:cs typeface="Calibri" pitchFamily="34" charset="-120"/>
              </a:rPr>
              <a:t>iterative-incremental development with a Kanban-style flow. Requirements emerged from experiments on the real KPI regulation; user stories are prioritised with MoSCoW labels; every increment is a branch merged only after the quality gates pass.</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Criteria for selecting technologies</a:t>
            </a:r>
            <a:endParaRPr lang="en-US" sz="3400" dirty="0"/>
          </a:p>
        </p:txBody>
      </p:sp>
      <p:sp>
        <p:nvSpPr>
          <p:cNvPr id="4" name="Row 1 label"/>
          <p:cNvSpPr txBox="1"/>
          <p:nvPr/>
        </p:nvSpPr>
        <p:spPr>
          <a:xfrm>
            <a:off x="548640" y="1325880"/>
            <a:ext cx="5486400" cy="274320"/>
          </a:xfrm>
          <a:prstGeom prst="rect">
            <a:avLst/>
          </a:prstGeom>
          <a:noFill/>
          <a:ln/>
        </p:spPr>
        <p:txBody>
          <a:bodyPr wrap="square" lIns="0" tIns="0" rIns="0" bIns="0" rtlCol="0" anchor="ctr"/>
          <a:lstStyle/>
          <a:p>
            <a:pPr indent="0" marL="0">
              <a:buNone/>
            </a:pPr>
            <a:r>
              <a:rPr lang="en-US" sz="1200" b="1" spc="200" kern="0" dirty="0">
                <a:solidFill>
                  <a:srgbClr val="0B7A6E"/>
                </a:solidFill>
                <a:latin typeface="Calibri" pitchFamily="34" charset="0"/>
                <a:ea typeface="Calibri" pitchFamily="34" charset="-122"/>
                <a:cs typeface="Calibri" pitchFamily="34" charset="-120"/>
              </a:rPr>
              <a:t>FROM LECTURE 5</a:t>
            </a:r>
            <a:endParaRPr lang="en-US" sz="1200" dirty="0"/>
          </a:p>
        </p:txBody>
      </p:sp>
      <p:sp>
        <p:nvSpPr>
          <p:cNvPr id="5" name="Row 2 label"/>
          <p:cNvSpPr txBox="1"/>
          <p:nvPr/>
        </p:nvSpPr>
        <p:spPr>
          <a:xfrm>
            <a:off x="548640" y="3749040"/>
            <a:ext cx="5486400" cy="274320"/>
          </a:xfrm>
          <a:prstGeom prst="rect">
            <a:avLst/>
          </a:prstGeom>
          <a:noFill/>
          <a:ln/>
        </p:spPr>
        <p:txBody>
          <a:bodyPr wrap="square" lIns="0" tIns="0" rIns="0" bIns="0" rtlCol="0" anchor="ctr"/>
          <a:lstStyle/>
          <a:p>
            <a:pPr indent="0" marL="0">
              <a:buNone/>
            </a:pPr>
            <a:r>
              <a:rPr lang="en-US" sz="1200" b="1" spc="200" kern="0" dirty="0">
                <a:solidFill>
                  <a:srgbClr val="3B5BDB"/>
                </a:solidFill>
                <a:latin typeface="Calibri" pitchFamily="34" charset="0"/>
                <a:ea typeface="Calibri" pitchFamily="34" charset="-122"/>
                <a:cs typeface="Calibri" pitchFamily="34" charset="-120"/>
              </a:rPr>
              <a:t>ADDED FOR RESEARCH SOFTWARE</a:t>
            </a:r>
            <a:endParaRPr lang="en-US" sz="1200" dirty="0"/>
          </a:p>
        </p:txBody>
      </p:sp>
      <p:sp>
        <p:nvSpPr>
          <p:cNvPr id="6" name="Criterion 1"/>
          <p:cNvSpPr/>
          <p:nvPr/>
        </p:nvSpPr>
        <p:spPr>
          <a:xfrm>
            <a:off x="548640" y="1691640"/>
            <a:ext cx="2651760" cy="1828800"/>
          </a:xfrm>
          <a:prstGeom prst="roundRect">
            <a:avLst>
              <a:gd name="adj" fmla="val 6000"/>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7" name="Criterion 1 title"/>
          <p:cNvSpPr txBox="1"/>
          <p:nvPr/>
        </p:nvSpPr>
        <p:spPr>
          <a:xfrm>
            <a:off x="731520" y="185623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Performance</a:t>
            </a:r>
            <a:endParaRPr lang="en-US" sz="1800" dirty="0"/>
          </a:p>
        </p:txBody>
      </p:sp>
      <p:sp>
        <p:nvSpPr>
          <p:cNvPr id="8" name="Criterion 1 text"/>
          <p:cNvSpPr txBox="1"/>
          <p:nvPr/>
        </p:nvSpPr>
        <p:spPr>
          <a:xfrm>
            <a:off x="731520" y="237744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LLM inference is GPU-bound; Python is enough</a:t>
            </a:r>
            <a:endParaRPr lang="en-US" sz="1400" dirty="0"/>
          </a:p>
        </p:txBody>
      </p:sp>
      <p:sp>
        <p:nvSpPr>
          <p:cNvPr id="9" name="Criterion 2"/>
          <p:cNvSpPr/>
          <p:nvPr/>
        </p:nvSpPr>
        <p:spPr>
          <a:xfrm>
            <a:off x="3337560" y="1691640"/>
            <a:ext cx="2651760" cy="1828800"/>
          </a:xfrm>
          <a:prstGeom prst="roundRect">
            <a:avLst>
              <a:gd name="adj" fmla="val 6000"/>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0" name="Criterion 2 title"/>
          <p:cNvSpPr txBox="1"/>
          <p:nvPr/>
        </p:nvSpPr>
        <p:spPr>
          <a:xfrm>
            <a:off x="3520440" y="185623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Scalability</a:t>
            </a:r>
            <a:endParaRPr lang="en-US" sz="1800" dirty="0"/>
          </a:p>
        </p:txBody>
      </p:sp>
      <p:sp>
        <p:nvSpPr>
          <p:cNvPr id="11" name="Criterion 2 text"/>
          <p:cNvSpPr txBox="1"/>
          <p:nvPr/>
        </p:nvSpPr>
        <p:spPr>
          <a:xfrm>
            <a:off x="3520440" y="237744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Stateless API, JSON storage, Docker image</a:t>
            </a:r>
            <a:endParaRPr lang="en-US" sz="1400" dirty="0"/>
          </a:p>
        </p:txBody>
      </p:sp>
      <p:sp>
        <p:nvSpPr>
          <p:cNvPr id="12" name="Criterion 3"/>
          <p:cNvSpPr/>
          <p:nvPr/>
        </p:nvSpPr>
        <p:spPr>
          <a:xfrm>
            <a:off x="6126480" y="1691640"/>
            <a:ext cx="2651760" cy="1828800"/>
          </a:xfrm>
          <a:prstGeom prst="roundRect">
            <a:avLst>
              <a:gd name="adj" fmla="val 6000"/>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3" name="Criterion 3 title"/>
          <p:cNvSpPr txBox="1"/>
          <p:nvPr/>
        </p:nvSpPr>
        <p:spPr>
          <a:xfrm>
            <a:off x="6309360" y="185623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Community</a:t>
            </a:r>
            <a:endParaRPr lang="en-US" sz="1800" dirty="0"/>
          </a:p>
        </p:txBody>
      </p:sp>
      <p:sp>
        <p:nvSpPr>
          <p:cNvPr id="14" name="Criterion 3 text"/>
          <p:cNvSpPr txBox="1"/>
          <p:nvPr/>
        </p:nvSpPr>
        <p:spPr>
          <a:xfrm>
            <a:off x="6309360" y="237744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Python, React, MUI and Ollama ecosystems</a:t>
            </a:r>
            <a:endParaRPr lang="en-US" sz="1400" dirty="0"/>
          </a:p>
        </p:txBody>
      </p:sp>
      <p:sp>
        <p:nvSpPr>
          <p:cNvPr id="15" name="Criterion 4"/>
          <p:cNvSpPr/>
          <p:nvPr/>
        </p:nvSpPr>
        <p:spPr>
          <a:xfrm>
            <a:off x="8915400" y="1691640"/>
            <a:ext cx="2651760" cy="1828800"/>
          </a:xfrm>
          <a:prstGeom prst="roundRect">
            <a:avLst>
              <a:gd name="adj" fmla="val 6000"/>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6" name="Criterion 4 title"/>
          <p:cNvSpPr txBox="1"/>
          <p:nvPr/>
        </p:nvSpPr>
        <p:spPr>
          <a:xfrm>
            <a:off x="9098280" y="185623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Compatibility</a:t>
            </a:r>
            <a:endParaRPr lang="en-US" sz="1800" dirty="0"/>
          </a:p>
        </p:txBody>
      </p:sp>
      <p:sp>
        <p:nvSpPr>
          <p:cNvPr id="17" name="Criterion 4 text"/>
          <p:cNvSpPr txBox="1"/>
          <p:nvPr/>
        </p:nvSpPr>
        <p:spPr>
          <a:xfrm>
            <a:off x="9098280" y="237744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REST + Ollama API, Windows and Linux</a:t>
            </a:r>
            <a:endParaRPr lang="en-US" sz="1400" dirty="0"/>
          </a:p>
        </p:txBody>
      </p:sp>
      <p:sp>
        <p:nvSpPr>
          <p:cNvPr id="18" name="Criterion 5"/>
          <p:cNvSpPr/>
          <p:nvPr/>
        </p:nvSpPr>
        <p:spPr>
          <a:xfrm>
            <a:off x="548640" y="4114800"/>
            <a:ext cx="2651760" cy="1828800"/>
          </a:xfrm>
          <a:prstGeom prst="roundRect">
            <a:avLst>
              <a:gd name="adj" fmla="val 6000"/>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9" name="Criterion 5 title"/>
          <p:cNvSpPr txBox="1"/>
          <p:nvPr/>
        </p:nvSpPr>
        <p:spPr>
          <a:xfrm>
            <a:off x="731520" y="427939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Data privacy</a:t>
            </a:r>
            <a:endParaRPr lang="en-US" sz="1800" dirty="0"/>
          </a:p>
        </p:txBody>
      </p:sp>
      <p:sp>
        <p:nvSpPr>
          <p:cNvPr id="20" name="Criterion 5 text"/>
          <p:cNvSpPr txBox="1"/>
          <p:nvPr/>
        </p:nvSpPr>
        <p:spPr>
          <a:xfrm>
            <a:off x="731520" y="480060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On-premises LLM: documents never leave</a:t>
            </a:r>
            <a:endParaRPr lang="en-US" sz="1400" dirty="0"/>
          </a:p>
        </p:txBody>
      </p:sp>
      <p:sp>
        <p:nvSpPr>
          <p:cNvPr id="21" name="Criterion 6"/>
          <p:cNvSpPr/>
          <p:nvPr/>
        </p:nvSpPr>
        <p:spPr>
          <a:xfrm>
            <a:off x="3337560" y="4114800"/>
            <a:ext cx="2651760" cy="1828800"/>
          </a:xfrm>
          <a:prstGeom prst="roundRect">
            <a:avLst>
              <a:gd name="adj" fmla="val 6000"/>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22" name="Criterion 6 title"/>
          <p:cNvSpPr txBox="1"/>
          <p:nvPr/>
        </p:nvSpPr>
        <p:spPr>
          <a:xfrm>
            <a:off x="3520440" y="427939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Reproducibility</a:t>
            </a:r>
            <a:endParaRPr lang="en-US" sz="1800" dirty="0"/>
          </a:p>
        </p:txBody>
      </p:sp>
      <p:sp>
        <p:nvSpPr>
          <p:cNvPr id="23" name="Criterion 6 text"/>
          <p:cNvSpPr txBox="1"/>
          <p:nvPr/>
        </p:nvSpPr>
        <p:spPr>
          <a:xfrm>
            <a:off x="3520440" y="480060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Open weights, pinned versions, fixed seed</a:t>
            </a:r>
            <a:endParaRPr lang="en-US" sz="1400" dirty="0"/>
          </a:p>
        </p:txBody>
      </p:sp>
      <p:sp>
        <p:nvSpPr>
          <p:cNvPr id="24" name="Criterion 7"/>
          <p:cNvSpPr/>
          <p:nvPr/>
        </p:nvSpPr>
        <p:spPr>
          <a:xfrm>
            <a:off x="6126480" y="4114800"/>
            <a:ext cx="2651760" cy="1828800"/>
          </a:xfrm>
          <a:prstGeom prst="roundRect">
            <a:avLst>
              <a:gd name="adj" fmla="val 6000"/>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25" name="Criterion 7 title"/>
          <p:cNvSpPr txBox="1"/>
          <p:nvPr/>
        </p:nvSpPr>
        <p:spPr>
          <a:xfrm>
            <a:off x="6309360" y="427939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Licence</a:t>
            </a:r>
            <a:endParaRPr lang="en-US" sz="1800" dirty="0"/>
          </a:p>
        </p:txBody>
      </p:sp>
      <p:sp>
        <p:nvSpPr>
          <p:cNvPr id="26" name="Criterion 7 text"/>
          <p:cNvSpPr txBox="1"/>
          <p:nvPr/>
        </p:nvSpPr>
        <p:spPr>
          <a:xfrm>
            <a:off x="6309360" y="480060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MIT code, Apache-2.0 model weights</a:t>
            </a:r>
            <a:endParaRPr lang="en-US" sz="1400" dirty="0"/>
          </a:p>
        </p:txBody>
      </p:sp>
      <p:sp>
        <p:nvSpPr>
          <p:cNvPr id="27" name="Criterion 8"/>
          <p:cNvSpPr/>
          <p:nvPr/>
        </p:nvSpPr>
        <p:spPr>
          <a:xfrm>
            <a:off x="8915400" y="4114800"/>
            <a:ext cx="2651760" cy="1828800"/>
          </a:xfrm>
          <a:prstGeom prst="roundRect">
            <a:avLst>
              <a:gd name="adj" fmla="val 6000"/>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28" name="Criterion 8 title"/>
          <p:cNvSpPr txBox="1"/>
          <p:nvPr/>
        </p:nvSpPr>
        <p:spPr>
          <a:xfrm>
            <a:off x="9098280" y="4279392"/>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Testability</a:t>
            </a:r>
            <a:endParaRPr lang="en-US" sz="1800" dirty="0"/>
          </a:p>
        </p:txBody>
      </p:sp>
      <p:sp>
        <p:nvSpPr>
          <p:cNvPr id="29" name="Criterion 8 text"/>
          <p:cNvSpPr txBox="1"/>
          <p:nvPr/>
        </p:nvSpPr>
        <p:spPr>
          <a:xfrm>
            <a:off x="9098280" y="4800600"/>
            <a:ext cx="2286000" cy="1005840"/>
          </a:xfrm>
          <a:prstGeom prst="rect">
            <a:avLst/>
          </a:prstGeom>
          <a:noFill/>
          <a:ln/>
        </p:spPr>
        <p:txBody>
          <a:bodyPr wrap="square" lIns="0" tIns="0" rIns="0" bIns="0" rtlCol="0" anchor="t"/>
          <a:lstStyle/>
          <a:p>
            <a:pPr indent="0" marL="0">
              <a:buNone/>
            </a:pPr>
            <a:r>
              <a:rPr lang="en-US" sz="1400" dirty="0">
                <a:solidFill>
                  <a:srgbClr val="13202F"/>
                </a:solidFill>
                <a:latin typeface="Calibri" pitchFamily="34" charset="0"/>
                <a:ea typeface="Calibri" pitchFamily="34" charset="-122"/>
                <a:cs typeface="Calibri" pitchFamily="34" charset="-120"/>
              </a:rPr>
              <a:t>Replaceable LLM client: CI without a GPU</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Technology stack and why</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64240" cy="914400"/>
        </p:xfrm>
        <a:graphic>
          <a:graphicData uri="http://schemas.openxmlformats.org/drawingml/2006/table">
            <a:tbl>
              <a:tblPr/>
              <a:tblGrid>
                <a:gridCol w="2103120"/>
                <a:gridCol w="3108960"/>
                <a:gridCol w="5852160"/>
              </a:tblGrid>
              <a:tr h="64008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Choice</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1B2D"/>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Why (alternatives)</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0F1B2D"/>
                    </a:solidFill>
                  </a:tcPr>
                </a:tc>
              </a:tr>
              <a:tr h="640080">
                <a:tc>
                  <a:txBody>
                    <a:bodyPr/>
                    <a:lstStyle/>
                    <a:p>
                      <a:pPr indent="0" marL="0">
                        <a:buNone/>
                      </a:pPr>
                      <a:r>
                        <a:rPr lang="en-US" sz="1400" b="1" dirty="0">
                          <a:solidFill>
                            <a:srgbClr val="0F1B2D"/>
                          </a:solidFill>
                          <a:latin typeface="Calibri" pitchFamily="34" charset="0"/>
                          <a:ea typeface="Calibri" pitchFamily="34" charset="-122"/>
                          <a:cs typeface="Calibri" pitchFamily="34" charset="-120"/>
                        </a:rPr>
                        <a:t>Backend</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Python 3.11 + FastAPI</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NLP / CV ecosystem, typed API, OpenAPI (vs Django, Java)</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F1B2D"/>
                          </a:solidFill>
                          <a:latin typeface="Calibri" pitchFamily="34" charset="0"/>
                          <a:ea typeface="Calibri" pitchFamily="34" charset="-122"/>
                          <a:cs typeface="Calibri" pitchFamily="34" charset="-120"/>
                        </a:rPr>
                        <a:t>LLM runtime</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Ollama + gpt-oss:20b</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On-premises, open weights, JSON-schema output (vs cloud APIs)</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r>
              <a:tr h="640080">
                <a:tc>
                  <a:txBody>
                    <a:bodyPr/>
                    <a:lstStyle/>
                    <a:p>
                      <a:pPr indent="0" marL="0">
                        <a:buNone/>
                      </a:pPr>
                      <a:r>
                        <a:rPr lang="en-US" sz="1400" b="1" dirty="0">
                          <a:solidFill>
                            <a:srgbClr val="0F1B2D"/>
                          </a:solidFill>
                          <a:latin typeface="Calibri" pitchFamily="34" charset="0"/>
                          <a:ea typeface="Calibri" pitchFamily="34" charset="-122"/>
                          <a:cs typeface="Calibri" pitchFamily="34" charset="-120"/>
                        </a:rPr>
                        <a:t>Documents / CV</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pdfplumber, OpenCV</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Cell-level tables, explainable image checks</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F1B2D"/>
                          </a:solidFill>
                          <a:latin typeface="Calibri" pitchFamily="34" charset="0"/>
                          <a:ea typeface="Calibri" pitchFamily="34" charset="-122"/>
                          <a:cs typeface="Calibri" pitchFamily="34" charset="-120"/>
                        </a:rPr>
                        <a:t>Frontend</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React 19 + Vite + MUI</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Components, accessible kit, 5 themes x light/dark</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r>
              <a:tr h="640080">
                <a:tc>
                  <a:txBody>
                    <a:bodyPr/>
                    <a:lstStyle/>
                    <a:p>
                      <a:pPr indent="0" marL="0">
                        <a:buNone/>
                      </a:pPr>
                      <a:r>
                        <a:rPr lang="en-US" sz="1400" b="1" dirty="0">
                          <a:solidFill>
                            <a:srgbClr val="0F1B2D"/>
                          </a:solidFill>
                          <a:latin typeface="Calibri" pitchFamily="34" charset="0"/>
                          <a:ea typeface="Calibri" pitchFamily="34" charset="-122"/>
                          <a:cs typeface="Calibri" pitchFamily="34" charset="-120"/>
                        </a:rPr>
                        <a:t>Quality</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pytest, Vitest, ruff, ESLint</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115 + 53 tests, coverage gates, one tool per language</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40080">
                <a:tc>
                  <a:txBody>
                    <a:bodyPr/>
                    <a:lstStyle/>
                    <a:p>
                      <a:pPr indent="0" marL="0">
                        <a:buNone/>
                      </a:pPr>
                      <a:r>
                        <a:rPr lang="en-US" sz="1400" b="1" dirty="0">
                          <a:solidFill>
                            <a:srgbClr val="0F1B2D"/>
                          </a:solidFill>
                          <a:latin typeface="Calibri" pitchFamily="34" charset="0"/>
                          <a:ea typeface="Calibri" pitchFamily="34" charset="-122"/>
                          <a:cs typeface="Calibri" pitchFamily="34" charset="-120"/>
                        </a:rPr>
                        <a:t>Packaging</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Docker multi-stage</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c>
                  <a:txBody>
                    <a:bodyPr/>
                    <a:lstStyle/>
                    <a:p>
                      <a:pPr indent="0" marL="0">
                        <a:buNone/>
                      </a:pPr>
                      <a:r>
                        <a:rPr lang="en-US" sz="1400" dirty="0">
                          <a:solidFill>
                            <a:srgbClr val="13202F"/>
                          </a:solidFill>
                          <a:latin typeface="Calibri" pitchFamily="34" charset="0"/>
                          <a:ea typeface="Calibri" pitchFamily="34" charset="-122"/>
                          <a:cs typeface="Calibri" pitchFamily="34" charset="-120"/>
                        </a:rPr>
                        <a:t>Node build, Python runtime, one artefact</a:t>
                      </a:r>
                      <a:endParaRPr lang="en-US" sz="1400" dirty="0">
                        <a:latin typeface="Calibri" charset="0"/>
                        <a:ea typeface="Calibri" charset="0"/>
                        <a:cs typeface="Calibri" charset="0"/>
                      </a:endParaRPr>
                    </a:p>
                  </a:txBody>
                  <a:tcPr marL="109728" marR="109728" marT="36576" marB="36576"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1F5F9"/>
                    </a:solidFill>
                  </a:tcPr>
                </a:tc>
              </a:tr>
            </a:tbl>
          </a:graphicData>
        </a:graphic>
      </p:graphicFrame>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Version control: Git and GitHub</a:t>
            </a:r>
            <a:endParaRPr lang="en-US" sz="3400" dirty="0"/>
          </a:p>
        </p:txBody>
      </p:sp>
      <p:sp>
        <p:nvSpPr>
          <p:cNvPr id="4" name="Column 1"/>
          <p:cNvSpPr/>
          <p:nvPr/>
        </p:nvSpPr>
        <p:spPr>
          <a:xfrm>
            <a:off x="548640" y="1371600"/>
            <a:ext cx="3566160" cy="4160520"/>
          </a:xfrm>
          <a:prstGeom prst="roundRect">
            <a:avLst>
              <a:gd name="adj" fmla="val 3077"/>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5" name="Column 1 title"/>
          <p:cNvSpPr txBox="1"/>
          <p:nvPr/>
        </p:nvSpPr>
        <p:spPr>
          <a:xfrm>
            <a:off x="777240" y="1508760"/>
            <a:ext cx="3108960" cy="45720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Version control systems</a:t>
            </a:r>
            <a:endParaRPr lang="en-US" sz="1800" dirty="0"/>
          </a:p>
        </p:txBody>
      </p:sp>
      <p:sp>
        <p:nvSpPr>
          <p:cNvPr id="6" name="Item 1.1"/>
          <p:cNvSpPr txBox="1"/>
          <p:nvPr/>
        </p:nvSpPr>
        <p:spPr>
          <a:xfrm>
            <a:off x="777240" y="2148840"/>
            <a:ext cx="2423160" cy="91440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Git</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distributed, fast branches, huge ecosystem</a:t>
            </a:r>
            <a:endParaRPr lang="en-US" sz="1600" dirty="0"/>
          </a:p>
        </p:txBody>
      </p:sp>
      <p:sp>
        <p:nvSpPr>
          <p:cNvPr id="7" name="Chosen 1"/>
          <p:cNvSpPr/>
          <p:nvPr/>
        </p:nvSpPr>
        <p:spPr>
          <a:xfrm>
            <a:off x="3246120" y="2194560"/>
            <a:ext cx="713232" cy="310896"/>
          </a:xfrm>
          <a:prstGeom prst="roundRect">
            <a:avLst>
              <a:gd name="adj" fmla="val 23529"/>
            </a:avLst>
          </a:prstGeom>
          <a:solidFill>
            <a:srgbClr val="0E9F8E"/>
          </a:solidFill>
          <a:ln w="6350">
            <a:solidFill>
              <a:srgbClr val="0E9F8E"/>
            </a:solidFill>
            <a:prstDash val="solid"/>
          </a:ln>
        </p:spPr>
      </p:sp>
      <p:sp>
        <p:nvSpPr>
          <p:cNvPr id="8" name="Chosen 1 label"/>
          <p:cNvSpPr txBox="1"/>
          <p:nvPr/>
        </p:nvSpPr>
        <p:spPr>
          <a:xfrm>
            <a:off x="3246120" y="2194560"/>
            <a:ext cx="7132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chosen</a:t>
            </a:r>
            <a:endParaRPr lang="en-US" sz="1100" dirty="0"/>
          </a:p>
        </p:txBody>
      </p:sp>
      <p:sp>
        <p:nvSpPr>
          <p:cNvPr id="9" name="Item 1.2"/>
          <p:cNvSpPr txBox="1"/>
          <p:nvPr/>
        </p:nvSpPr>
        <p:spPr>
          <a:xfrm>
            <a:off x="777240" y="3246120"/>
            <a:ext cx="3108960" cy="914400"/>
          </a:xfrm>
          <a:prstGeom prst="rect">
            <a:avLst/>
          </a:prstGeom>
          <a:noFill/>
          <a:ln/>
        </p:spPr>
        <p:txBody>
          <a:bodyPr wrap="square" lIns="0" tIns="0" rIns="0" bIns="0" rtlCol="0" anchor="t"/>
          <a:lstStyle/>
          <a:p>
            <a:pPr indent="0" marL="0">
              <a:buNone/>
            </a:pPr>
            <a:r>
              <a:rPr lang="en-US" sz="1600" b="1" dirty="0">
                <a:solidFill>
                  <a:srgbClr val="13202F"/>
                </a:solidFill>
                <a:latin typeface="Calibri" pitchFamily="34" charset="0"/>
                <a:ea typeface="Calibri" pitchFamily="34" charset="-122"/>
                <a:cs typeface="Calibri" pitchFamily="34" charset="-120"/>
              </a:rPr>
              <a:t>Subversion</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centralised, simple, weak merging</a:t>
            </a:r>
            <a:endParaRPr lang="en-US" sz="1600" dirty="0"/>
          </a:p>
        </p:txBody>
      </p:sp>
      <p:sp>
        <p:nvSpPr>
          <p:cNvPr id="10" name="Item 1.3"/>
          <p:cNvSpPr txBox="1"/>
          <p:nvPr/>
        </p:nvSpPr>
        <p:spPr>
          <a:xfrm>
            <a:off x="777240" y="4343400"/>
            <a:ext cx="3108960" cy="914400"/>
          </a:xfrm>
          <a:prstGeom prst="rect">
            <a:avLst/>
          </a:prstGeom>
          <a:noFill/>
          <a:ln/>
        </p:spPr>
        <p:txBody>
          <a:bodyPr wrap="square" lIns="0" tIns="0" rIns="0" bIns="0" rtlCol="0" anchor="t"/>
          <a:lstStyle/>
          <a:p>
            <a:pPr indent="0" marL="0">
              <a:buNone/>
            </a:pPr>
            <a:r>
              <a:rPr lang="en-US" sz="1600" b="1" dirty="0">
                <a:solidFill>
                  <a:srgbClr val="13202F"/>
                </a:solidFill>
                <a:latin typeface="Calibri" pitchFamily="34" charset="0"/>
                <a:ea typeface="Calibri" pitchFamily="34" charset="-122"/>
                <a:cs typeface="Calibri" pitchFamily="34" charset="-120"/>
              </a:rPr>
              <a:t>Mercurial</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distributed, easy CLI, small ecosystem</a:t>
            </a:r>
            <a:endParaRPr lang="en-US" sz="1600" dirty="0"/>
          </a:p>
        </p:txBody>
      </p:sp>
      <p:sp>
        <p:nvSpPr>
          <p:cNvPr id="11" name="Column 2"/>
          <p:cNvSpPr/>
          <p:nvPr/>
        </p:nvSpPr>
        <p:spPr>
          <a:xfrm>
            <a:off x="4297680" y="1371600"/>
            <a:ext cx="3566160" cy="4160520"/>
          </a:xfrm>
          <a:prstGeom prst="roundRect">
            <a:avLst>
              <a:gd name="adj" fmla="val 3077"/>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2" name="Column 2 title"/>
          <p:cNvSpPr txBox="1"/>
          <p:nvPr/>
        </p:nvSpPr>
        <p:spPr>
          <a:xfrm>
            <a:off x="4526280" y="1508760"/>
            <a:ext cx="3108960" cy="45720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Hosting platforms</a:t>
            </a:r>
            <a:endParaRPr lang="en-US" sz="1800" dirty="0"/>
          </a:p>
        </p:txBody>
      </p:sp>
      <p:sp>
        <p:nvSpPr>
          <p:cNvPr id="13" name="Item 2.1"/>
          <p:cNvSpPr txBox="1"/>
          <p:nvPr/>
        </p:nvSpPr>
        <p:spPr>
          <a:xfrm>
            <a:off x="4526280" y="2148840"/>
            <a:ext cx="2423160" cy="91440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GitHub</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PRs, Actions, Dependabot, CodeQL, GHCR</a:t>
            </a:r>
            <a:endParaRPr lang="en-US" sz="1600" dirty="0"/>
          </a:p>
        </p:txBody>
      </p:sp>
      <p:sp>
        <p:nvSpPr>
          <p:cNvPr id="14" name="Chosen 2"/>
          <p:cNvSpPr/>
          <p:nvPr/>
        </p:nvSpPr>
        <p:spPr>
          <a:xfrm>
            <a:off x="6995160" y="2194560"/>
            <a:ext cx="713232" cy="310896"/>
          </a:xfrm>
          <a:prstGeom prst="roundRect">
            <a:avLst>
              <a:gd name="adj" fmla="val 23529"/>
            </a:avLst>
          </a:prstGeom>
          <a:solidFill>
            <a:srgbClr val="3B5BDB"/>
          </a:solidFill>
          <a:ln w="6350">
            <a:solidFill>
              <a:srgbClr val="3B5BDB"/>
            </a:solidFill>
            <a:prstDash val="solid"/>
          </a:ln>
        </p:spPr>
      </p:sp>
      <p:sp>
        <p:nvSpPr>
          <p:cNvPr id="15" name="Chosen 2 label"/>
          <p:cNvSpPr txBox="1"/>
          <p:nvPr/>
        </p:nvSpPr>
        <p:spPr>
          <a:xfrm>
            <a:off x="6995160" y="2194560"/>
            <a:ext cx="7132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chosen</a:t>
            </a:r>
            <a:endParaRPr lang="en-US" sz="1100" dirty="0"/>
          </a:p>
        </p:txBody>
      </p:sp>
      <p:sp>
        <p:nvSpPr>
          <p:cNvPr id="16" name="Item 2.2"/>
          <p:cNvSpPr txBox="1"/>
          <p:nvPr/>
        </p:nvSpPr>
        <p:spPr>
          <a:xfrm>
            <a:off x="4526280" y="3246120"/>
            <a:ext cx="3108960" cy="914400"/>
          </a:xfrm>
          <a:prstGeom prst="rect">
            <a:avLst/>
          </a:prstGeom>
          <a:noFill/>
          <a:ln/>
        </p:spPr>
        <p:txBody>
          <a:bodyPr wrap="square" lIns="0" tIns="0" rIns="0" bIns="0" rtlCol="0" anchor="t"/>
          <a:lstStyle/>
          <a:p>
            <a:pPr indent="0" marL="0">
              <a:buNone/>
            </a:pPr>
            <a:r>
              <a:rPr lang="en-US" sz="1600" b="1" dirty="0">
                <a:solidFill>
                  <a:srgbClr val="13202F"/>
                </a:solidFill>
                <a:latin typeface="Calibri" pitchFamily="34" charset="0"/>
                <a:ea typeface="Calibri" pitchFamily="34" charset="-122"/>
                <a:cs typeface="Calibri" pitchFamily="34" charset="-120"/>
              </a:rPr>
              <a:t>GitLab</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built-in CI/CD, self-hosting</a:t>
            </a:r>
            <a:endParaRPr lang="en-US" sz="1600" dirty="0"/>
          </a:p>
        </p:txBody>
      </p:sp>
      <p:sp>
        <p:nvSpPr>
          <p:cNvPr id="17" name="Item 2.3"/>
          <p:cNvSpPr txBox="1"/>
          <p:nvPr/>
        </p:nvSpPr>
        <p:spPr>
          <a:xfrm>
            <a:off x="4526280" y="4343400"/>
            <a:ext cx="3108960" cy="914400"/>
          </a:xfrm>
          <a:prstGeom prst="rect">
            <a:avLst/>
          </a:prstGeom>
          <a:noFill/>
          <a:ln/>
        </p:spPr>
        <p:txBody>
          <a:bodyPr wrap="square" lIns="0" tIns="0" rIns="0" bIns="0" rtlCol="0" anchor="t"/>
          <a:lstStyle/>
          <a:p>
            <a:pPr indent="0" marL="0">
              <a:buNone/>
            </a:pPr>
            <a:r>
              <a:rPr lang="en-US" sz="1600" b="1" dirty="0">
                <a:solidFill>
                  <a:srgbClr val="13202F"/>
                </a:solidFill>
                <a:latin typeface="Calibri" pitchFamily="34" charset="0"/>
                <a:ea typeface="Calibri" pitchFamily="34" charset="-122"/>
                <a:cs typeface="Calibri" pitchFamily="34" charset="-120"/>
              </a:rPr>
              <a:t>Bitbucket</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tight Jira integration</a:t>
            </a:r>
            <a:endParaRPr lang="en-US" sz="1600" dirty="0"/>
          </a:p>
        </p:txBody>
      </p:sp>
      <p:sp>
        <p:nvSpPr>
          <p:cNvPr id="18" name="Column 3"/>
          <p:cNvSpPr/>
          <p:nvPr/>
        </p:nvSpPr>
        <p:spPr>
          <a:xfrm>
            <a:off x="8046720" y="1371600"/>
            <a:ext cx="3566160" cy="4160520"/>
          </a:xfrm>
          <a:prstGeom prst="roundRect">
            <a:avLst>
              <a:gd name="adj" fmla="val 3077"/>
            </a:avLst>
          </a:prstGeom>
          <a:solidFill>
            <a:srgbClr val="FEF3DC"/>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9" name="Column 3 title"/>
          <p:cNvSpPr txBox="1"/>
          <p:nvPr/>
        </p:nvSpPr>
        <p:spPr>
          <a:xfrm>
            <a:off x="8275320" y="1508760"/>
            <a:ext cx="3108960" cy="45720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Branching strategies</a:t>
            </a:r>
            <a:endParaRPr lang="en-US" sz="1800" dirty="0"/>
          </a:p>
        </p:txBody>
      </p:sp>
      <p:sp>
        <p:nvSpPr>
          <p:cNvPr id="20" name="Item 3.1"/>
          <p:cNvSpPr txBox="1"/>
          <p:nvPr/>
        </p:nvSpPr>
        <p:spPr>
          <a:xfrm>
            <a:off x="8275320" y="2148840"/>
            <a:ext cx="2423160" cy="914400"/>
          </a:xfrm>
          <a:prstGeom prst="rect">
            <a:avLst/>
          </a:prstGeom>
          <a:noFill/>
          <a:ln/>
        </p:spPr>
        <p:txBody>
          <a:bodyPr wrap="square" lIns="0" tIns="0" rIns="0" bIns="0" rtlCol="0" anchor="t"/>
          <a:lstStyle/>
          <a:p>
            <a:pPr indent="0" marL="0">
              <a:buNone/>
            </a:pPr>
            <a:r>
              <a:rPr lang="en-US" sz="1600" b="1" dirty="0">
                <a:solidFill>
                  <a:srgbClr val="0F1B2D"/>
                </a:solidFill>
                <a:latin typeface="Calibri" pitchFamily="34" charset="0"/>
                <a:ea typeface="Calibri" pitchFamily="34" charset="-122"/>
                <a:cs typeface="Calibri" pitchFamily="34" charset="-120"/>
              </a:rPr>
              <a:t>GitHub Flow</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short branches, PR review, deployable main</a:t>
            </a:r>
            <a:endParaRPr lang="en-US" sz="1600" dirty="0"/>
          </a:p>
        </p:txBody>
      </p:sp>
      <p:sp>
        <p:nvSpPr>
          <p:cNvPr id="21" name="Chosen 3"/>
          <p:cNvSpPr/>
          <p:nvPr/>
        </p:nvSpPr>
        <p:spPr>
          <a:xfrm>
            <a:off x="10744200" y="2194560"/>
            <a:ext cx="713232" cy="310896"/>
          </a:xfrm>
          <a:prstGeom prst="roundRect">
            <a:avLst>
              <a:gd name="adj" fmla="val 23529"/>
            </a:avLst>
          </a:prstGeom>
          <a:solidFill>
            <a:srgbClr val="F5A524"/>
          </a:solidFill>
          <a:ln w="6350">
            <a:solidFill>
              <a:srgbClr val="F5A524"/>
            </a:solidFill>
            <a:prstDash val="solid"/>
          </a:ln>
        </p:spPr>
      </p:sp>
      <p:sp>
        <p:nvSpPr>
          <p:cNvPr id="22" name="Chosen 3 label"/>
          <p:cNvSpPr txBox="1"/>
          <p:nvPr/>
        </p:nvSpPr>
        <p:spPr>
          <a:xfrm>
            <a:off x="10744200" y="2194560"/>
            <a:ext cx="71323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chosen</a:t>
            </a:r>
            <a:endParaRPr lang="en-US" sz="1100" dirty="0"/>
          </a:p>
        </p:txBody>
      </p:sp>
      <p:sp>
        <p:nvSpPr>
          <p:cNvPr id="23" name="Item 3.2"/>
          <p:cNvSpPr txBox="1"/>
          <p:nvPr/>
        </p:nvSpPr>
        <p:spPr>
          <a:xfrm>
            <a:off x="8275320" y="3246120"/>
            <a:ext cx="3108960" cy="914400"/>
          </a:xfrm>
          <a:prstGeom prst="rect">
            <a:avLst/>
          </a:prstGeom>
          <a:noFill/>
          <a:ln/>
        </p:spPr>
        <p:txBody>
          <a:bodyPr wrap="square" lIns="0" tIns="0" rIns="0" bIns="0" rtlCol="0" anchor="t"/>
          <a:lstStyle/>
          <a:p>
            <a:pPr indent="0" marL="0">
              <a:buNone/>
            </a:pPr>
            <a:r>
              <a:rPr lang="en-US" sz="1600" b="1" dirty="0">
                <a:solidFill>
                  <a:srgbClr val="13202F"/>
                </a:solidFill>
                <a:latin typeface="Calibri" pitchFamily="34" charset="0"/>
                <a:ea typeface="Calibri" pitchFamily="34" charset="-122"/>
                <a:cs typeface="Calibri" pitchFamily="34" charset="-120"/>
              </a:rPr>
              <a:t>Git Flow</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feature / release / hotfix branches</a:t>
            </a:r>
            <a:endParaRPr lang="en-US" sz="1600" dirty="0"/>
          </a:p>
        </p:txBody>
      </p:sp>
      <p:sp>
        <p:nvSpPr>
          <p:cNvPr id="24" name="Item 3.3"/>
          <p:cNvSpPr txBox="1"/>
          <p:nvPr/>
        </p:nvSpPr>
        <p:spPr>
          <a:xfrm>
            <a:off x="8275320" y="4343400"/>
            <a:ext cx="3108960" cy="914400"/>
          </a:xfrm>
          <a:prstGeom prst="rect">
            <a:avLst/>
          </a:prstGeom>
          <a:noFill/>
          <a:ln/>
        </p:spPr>
        <p:txBody>
          <a:bodyPr wrap="square" lIns="0" tIns="0" rIns="0" bIns="0" rtlCol="0" anchor="t"/>
          <a:lstStyle/>
          <a:p>
            <a:pPr indent="0" marL="0">
              <a:buNone/>
            </a:pPr>
            <a:r>
              <a:rPr lang="en-US" sz="1600" b="1" dirty="0">
                <a:solidFill>
                  <a:srgbClr val="13202F"/>
                </a:solidFill>
                <a:latin typeface="Calibri" pitchFamily="34" charset="0"/>
                <a:ea typeface="Calibri" pitchFamily="34" charset="-122"/>
                <a:cs typeface="Calibri" pitchFamily="34" charset="-120"/>
              </a:rPr>
              <a:t>Trunk-based</a:t>
            </a:r>
            <a:endParaRPr lang="en-US" sz="1600" dirty="0"/>
          </a:p>
          <a:p>
            <a:pPr indent="0" marL="0">
              <a:buNone/>
            </a:pPr>
            <a:r>
              <a:rPr lang="en-US" sz="1400" dirty="0">
                <a:solidFill>
                  <a:srgbClr val="5B6778"/>
                </a:solidFill>
                <a:latin typeface="Calibri" pitchFamily="34" charset="0"/>
                <a:ea typeface="Calibri" pitchFamily="34" charset="-122"/>
                <a:cs typeface="Calibri" pitchFamily="34" charset="-120"/>
              </a:rPr>
              <a:t>tiny commits to one trunk, toggles</a:t>
            </a:r>
            <a:endParaRPr lang="en-US" sz="1600" dirty="0"/>
          </a:p>
        </p:txBody>
      </p:sp>
      <p:sp>
        <p:nvSpPr>
          <p:cNvPr id="25" name="Practices"/>
          <p:cNvSpPr txBox="1"/>
          <p:nvPr/>
        </p:nvSpPr>
        <p:spPr>
          <a:xfrm>
            <a:off x="548640" y="5760720"/>
            <a:ext cx="11064240" cy="502920"/>
          </a:xfrm>
          <a:prstGeom prst="rect">
            <a:avLst/>
          </a:prstGeom>
          <a:noFill/>
          <a:ln/>
        </p:spPr>
        <p:txBody>
          <a:bodyPr wrap="square" lIns="0" tIns="0" rIns="0" bIns="0" rtlCol="0" anchor="ctr"/>
          <a:lstStyle/>
          <a:p>
            <a:pPr indent="0" marL="0">
              <a:buNone/>
            </a:pPr>
            <a:r>
              <a:rPr lang="en-US" sz="1400" dirty="0">
                <a:solidFill>
                  <a:srgbClr val="5B6778"/>
                </a:solidFill>
                <a:latin typeface="Calibri" pitchFamily="34" charset="0"/>
                <a:ea typeface="Calibri" pitchFamily="34" charset="-122"/>
                <a:cs typeface="Calibri" pitchFamily="34" charset="-120"/>
              </a:rPr>
              <a:t>Practices applied: small commits, Conventional Commits, topic branches, merge after green checks, tags for releases, protected main.</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Git and GitHub in the project</a:t>
            </a:r>
            <a:endParaRPr lang="en-US" sz="3400" dirty="0"/>
          </a:p>
        </p:txBody>
      </p:sp>
      <p:sp>
        <p:nvSpPr>
          <p:cNvPr id="4" name="main label"/>
          <p:cNvSpPr txBox="1"/>
          <p:nvPr/>
        </p:nvSpPr>
        <p:spPr>
          <a:xfrm>
            <a:off x="548640" y="1627632"/>
            <a:ext cx="2103120" cy="310896"/>
          </a:xfrm>
          <a:prstGeom prst="rect">
            <a:avLst/>
          </a:prstGeom>
          <a:noFill/>
          <a:ln/>
        </p:spPr>
        <p:txBody>
          <a:bodyPr wrap="square" lIns="0" tIns="0" rIns="0" bIns="0" rtlCol="0" anchor="ctr"/>
          <a:lstStyle/>
          <a:p>
            <a:pPr indent="0" marL="0">
              <a:buNone/>
            </a:pPr>
            <a:r>
              <a:rPr lang="en-US" sz="1400" b="1" dirty="0">
                <a:solidFill>
                  <a:srgbClr val="0F1B2D"/>
                </a:solidFill>
                <a:latin typeface="Calibri" pitchFamily="34" charset="0"/>
                <a:ea typeface="Calibri" pitchFamily="34" charset="-122"/>
                <a:cs typeface="Calibri" pitchFamily="34" charset="-120"/>
              </a:rPr>
              <a:t>main</a:t>
            </a:r>
            <a:endParaRPr lang="en-US" sz="1400" dirty="0"/>
          </a:p>
        </p:txBody>
      </p:sp>
      <p:sp>
        <p:nvSpPr>
          <p:cNvPr id="5" name="Main line"/>
          <p:cNvSpPr/>
          <p:nvPr/>
        </p:nvSpPr>
        <p:spPr>
          <a:xfrm>
            <a:off x="2834640" y="1783080"/>
            <a:ext cx="4480560" cy="0"/>
          </a:xfrm>
          <a:prstGeom prst="line">
            <a:avLst/>
          </a:prstGeom>
          <a:noFill/>
          <a:ln w="38100">
            <a:solidFill>
              <a:srgbClr val="0F1B2D"/>
            </a:solidFill>
            <a:prstDash val="solid"/>
          </a:ln>
        </p:spPr>
      </p:sp>
      <p:sp>
        <p:nvSpPr>
          <p:cNvPr id="6" name="Branch 1 label"/>
          <p:cNvSpPr txBox="1"/>
          <p:nvPr/>
        </p:nvSpPr>
        <p:spPr>
          <a:xfrm>
            <a:off x="548640" y="231343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ci/github-actions</a:t>
            </a:r>
            <a:endParaRPr lang="en-US" sz="1200" dirty="0"/>
          </a:p>
        </p:txBody>
      </p:sp>
      <p:sp>
        <p:nvSpPr>
          <p:cNvPr id="7" name="Fork 1"/>
          <p:cNvSpPr/>
          <p:nvPr/>
        </p:nvSpPr>
        <p:spPr>
          <a:xfrm>
            <a:off x="3063240" y="1783080"/>
            <a:ext cx="0" cy="685800"/>
          </a:xfrm>
          <a:prstGeom prst="line">
            <a:avLst/>
          </a:prstGeom>
          <a:noFill/>
          <a:ln w="25400">
            <a:solidFill>
              <a:srgbClr val="0E9F8E"/>
            </a:solidFill>
            <a:prstDash val="solid"/>
          </a:ln>
        </p:spPr>
      </p:sp>
      <p:sp>
        <p:nvSpPr>
          <p:cNvPr id="8" name="Branch 1 line"/>
          <p:cNvSpPr/>
          <p:nvPr/>
        </p:nvSpPr>
        <p:spPr>
          <a:xfrm>
            <a:off x="3063240" y="2468880"/>
            <a:ext cx="457200" cy="0"/>
          </a:xfrm>
          <a:prstGeom prst="line">
            <a:avLst/>
          </a:prstGeom>
          <a:noFill/>
          <a:ln w="25400">
            <a:solidFill>
              <a:srgbClr val="0E9F8E"/>
            </a:solidFill>
            <a:prstDash val="solid"/>
          </a:ln>
        </p:spPr>
      </p:sp>
      <p:sp>
        <p:nvSpPr>
          <p:cNvPr id="9" name="Merge 1"/>
          <p:cNvSpPr/>
          <p:nvPr/>
        </p:nvSpPr>
        <p:spPr>
          <a:xfrm>
            <a:off x="3520440" y="1783080"/>
            <a:ext cx="0" cy="685800"/>
          </a:xfrm>
          <a:prstGeom prst="line">
            <a:avLst/>
          </a:prstGeom>
          <a:noFill/>
          <a:ln w="25400">
            <a:solidFill>
              <a:srgbClr val="0E9F8E"/>
            </a:solidFill>
            <a:prstDash val="dash"/>
          </a:ln>
        </p:spPr>
      </p:sp>
      <p:sp>
        <p:nvSpPr>
          <p:cNvPr id="10" name="Commit 1.1"/>
          <p:cNvSpPr/>
          <p:nvPr/>
        </p:nvSpPr>
        <p:spPr>
          <a:xfrm>
            <a:off x="2999232" y="2404872"/>
            <a:ext cx="128016" cy="128016"/>
          </a:xfrm>
          <a:prstGeom prst="ellipse">
            <a:avLst/>
          </a:prstGeom>
          <a:solidFill>
            <a:srgbClr val="0E9F8E"/>
          </a:solidFill>
          <a:ln w="12700">
            <a:solidFill>
              <a:srgbClr val="FFFFFF"/>
            </a:solidFill>
            <a:prstDash val="solid"/>
          </a:ln>
        </p:spPr>
      </p:sp>
      <p:sp>
        <p:nvSpPr>
          <p:cNvPr id="11" name="Commit 1.2"/>
          <p:cNvSpPr/>
          <p:nvPr/>
        </p:nvSpPr>
        <p:spPr>
          <a:xfrm>
            <a:off x="3227832" y="2404872"/>
            <a:ext cx="128016" cy="128016"/>
          </a:xfrm>
          <a:prstGeom prst="ellipse">
            <a:avLst/>
          </a:prstGeom>
          <a:solidFill>
            <a:srgbClr val="0E9F8E"/>
          </a:solidFill>
          <a:ln w="12700">
            <a:solidFill>
              <a:srgbClr val="FFFFFF"/>
            </a:solidFill>
            <a:prstDash val="solid"/>
          </a:ln>
        </p:spPr>
      </p:sp>
      <p:sp>
        <p:nvSpPr>
          <p:cNvPr id="12" name="Commit 1.3"/>
          <p:cNvSpPr/>
          <p:nvPr/>
        </p:nvSpPr>
        <p:spPr>
          <a:xfrm>
            <a:off x="3456432" y="2404872"/>
            <a:ext cx="128016" cy="128016"/>
          </a:xfrm>
          <a:prstGeom prst="ellipse">
            <a:avLst/>
          </a:prstGeom>
          <a:solidFill>
            <a:srgbClr val="0E9F8E"/>
          </a:solidFill>
          <a:ln w="12700">
            <a:solidFill>
              <a:srgbClr val="FFFFFF"/>
            </a:solidFill>
            <a:prstDash val="solid"/>
          </a:ln>
        </p:spPr>
      </p:sp>
      <p:sp>
        <p:nvSpPr>
          <p:cNvPr id="13" name="Merge commit 1"/>
          <p:cNvSpPr/>
          <p:nvPr/>
        </p:nvSpPr>
        <p:spPr>
          <a:xfrm>
            <a:off x="3429000" y="1691640"/>
            <a:ext cx="182880" cy="182880"/>
          </a:xfrm>
          <a:prstGeom prst="ellipse">
            <a:avLst/>
          </a:prstGeom>
          <a:solidFill>
            <a:srgbClr val="0F1B2D"/>
          </a:solidFill>
          <a:ln w="19050">
            <a:solidFill>
              <a:srgbClr val="FFFFFF"/>
            </a:solidFill>
            <a:prstDash val="solid"/>
          </a:ln>
        </p:spPr>
      </p:sp>
      <p:sp>
        <p:nvSpPr>
          <p:cNvPr id="14" name="Branch 2 label"/>
          <p:cNvSpPr txBox="1"/>
          <p:nvPr/>
        </p:nvSpPr>
        <p:spPr>
          <a:xfrm>
            <a:off x="548640" y="286207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feat/grounded-llm</a:t>
            </a:r>
            <a:endParaRPr lang="en-US" sz="1200" dirty="0"/>
          </a:p>
        </p:txBody>
      </p:sp>
      <p:sp>
        <p:nvSpPr>
          <p:cNvPr id="15" name="Fork 2"/>
          <p:cNvSpPr/>
          <p:nvPr/>
        </p:nvSpPr>
        <p:spPr>
          <a:xfrm>
            <a:off x="3611880" y="1783080"/>
            <a:ext cx="0" cy="1234440"/>
          </a:xfrm>
          <a:prstGeom prst="line">
            <a:avLst/>
          </a:prstGeom>
          <a:noFill/>
          <a:ln w="25400">
            <a:solidFill>
              <a:srgbClr val="3B5BDB"/>
            </a:solidFill>
            <a:prstDash val="solid"/>
          </a:ln>
        </p:spPr>
      </p:sp>
      <p:sp>
        <p:nvSpPr>
          <p:cNvPr id="16" name="Branch 2 line"/>
          <p:cNvSpPr/>
          <p:nvPr/>
        </p:nvSpPr>
        <p:spPr>
          <a:xfrm>
            <a:off x="3611880" y="3017520"/>
            <a:ext cx="457200" cy="0"/>
          </a:xfrm>
          <a:prstGeom prst="line">
            <a:avLst/>
          </a:prstGeom>
          <a:noFill/>
          <a:ln w="25400">
            <a:solidFill>
              <a:srgbClr val="3B5BDB"/>
            </a:solidFill>
            <a:prstDash val="solid"/>
          </a:ln>
        </p:spPr>
      </p:sp>
      <p:sp>
        <p:nvSpPr>
          <p:cNvPr id="17" name="Merge 2"/>
          <p:cNvSpPr/>
          <p:nvPr/>
        </p:nvSpPr>
        <p:spPr>
          <a:xfrm>
            <a:off x="4069080" y="1783080"/>
            <a:ext cx="0" cy="1234440"/>
          </a:xfrm>
          <a:prstGeom prst="line">
            <a:avLst/>
          </a:prstGeom>
          <a:noFill/>
          <a:ln w="25400">
            <a:solidFill>
              <a:srgbClr val="3B5BDB"/>
            </a:solidFill>
            <a:prstDash val="dash"/>
          </a:ln>
        </p:spPr>
      </p:sp>
      <p:sp>
        <p:nvSpPr>
          <p:cNvPr id="18" name="Commit 2.1"/>
          <p:cNvSpPr/>
          <p:nvPr/>
        </p:nvSpPr>
        <p:spPr>
          <a:xfrm>
            <a:off x="3547872" y="2953512"/>
            <a:ext cx="128016" cy="128016"/>
          </a:xfrm>
          <a:prstGeom prst="ellipse">
            <a:avLst/>
          </a:prstGeom>
          <a:solidFill>
            <a:srgbClr val="3B5BDB"/>
          </a:solidFill>
          <a:ln w="12700">
            <a:solidFill>
              <a:srgbClr val="FFFFFF"/>
            </a:solidFill>
            <a:prstDash val="solid"/>
          </a:ln>
        </p:spPr>
      </p:sp>
      <p:sp>
        <p:nvSpPr>
          <p:cNvPr id="19" name="Commit 2.2"/>
          <p:cNvSpPr/>
          <p:nvPr/>
        </p:nvSpPr>
        <p:spPr>
          <a:xfrm>
            <a:off x="3776472" y="2953512"/>
            <a:ext cx="128016" cy="128016"/>
          </a:xfrm>
          <a:prstGeom prst="ellipse">
            <a:avLst/>
          </a:prstGeom>
          <a:solidFill>
            <a:srgbClr val="3B5BDB"/>
          </a:solidFill>
          <a:ln w="12700">
            <a:solidFill>
              <a:srgbClr val="FFFFFF"/>
            </a:solidFill>
            <a:prstDash val="solid"/>
          </a:ln>
        </p:spPr>
      </p:sp>
      <p:sp>
        <p:nvSpPr>
          <p:cNvPr id="20" name="Commit 2.3"/>
          <p:cNvSpPr/>
          <p:nvPr/>
        </p:nvSpPr>
        <p:spPr>
          <a:xfrm>
            <a:off x="4005072" y="2953512"/>
            <a:ext cx="128016" cy="128016"/>
          </a:xfrm>
          <a:prstGeom prst="ellipse">
            <a:avLst/>
          </a:prstGeom>
          <a:solidFill>
            <a:srgbClr val="3B5BDB"/>
          </a:solidFill>
          <a:ln w="12700">
            <a:solidFill>
              <a:srgbClr val="FFFFFF"/>
            </a:solidFill>
            <a:prstDash val="solid"/>
          </a:ln>
        </p:spPr>
      </p:sp>
      <p:sp>
        <p:nvSpPr>
          <p:cNvPr id="21" name="Merge commit 2"/>
          <p:cNvSpPr/>
          <p:nvPr/>
        </p:nvSpPr>
        <p:spPr>
          <a:xfrm>
            <a:off x="3977640" y="1691640"/>
            <a:ext cx="182880" cy="182880"/>
          </a:xfrm>
          <a:prstGeom prst="ellipse">
            <a:avLst/>
          </a:prstGeom>
          <a:solidFill>
            <a:srgbClr val="0F1B2D"/>
          </a:solidFill>
          <a:ln w="19050">
            <a:solidFill>
              <a:srgbClr val="FFFFFF"/>
            </a:solidFill>
            <a:prstDash val="solid"/>
          </a:ln>
        </p:spPr>
      </p:sp>
      <p:sp>
        <p:nvSpPr>
          <p:cNvPr id="22" name="Branch 3 label"/>
          <p:cNvSpPr txBox="1"/>
          <p:nvPr/>
        </p:nvSpPr>
        <p:spPr>
          <a:xfrm>
            <a:off x="548640" y="341071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feat/react-mui-frontend</a:t>
            </a:r>
            <a:endParaRPr lang="en-US" sz="1200" dirty="0"/>
          </a:p>
        </p:txBody>
      </p:sp>
      <p:sp>
        <p:nvSpPr>
          <p:cNvPr id="23" name="Fork 3"/>
          <p:cNvSpPr/>
          <p:nvPr/>
        </p:nvSpPr>
        <p:spPr>
          <a:xfrm>
            <a:off x="4160520" y="1783080"/>
            <a:ext cx="0" cy="1783080"/>
          </a:xfrm>
          <a:prstGeom prst="line">
            <a:avLst/>
          </a:prstGeom>
          <a:noFill/>
          <a:ln w="25400">
            <a:solidFill>
              <a:srgbClr val="0E9F8E"/>
            </a:solidFill>
            <a:prstDash val="solid"/>
          </a:ln>
        </p:spPr>
      </p:sp>
      <p:sp>
        <p:nvSpPr>
          <p:cNvPr id="24" name="Branch 3 line"/>
          <p:cNvSpPr/>
          <p:nvPr/>
        </p:nvSpPr>
        <p:spPr>
          <a:xfrm>
            <a:off x="4160520" y="3566160"/>
            <a:ext cx="457200" cy="0"/>
          </a:xfrm>
          <a:prstGeom prst="line">
            <a:avLst/>
          </a:prstGeom>
          <a:noFill/>
          <a:ln w="25400">
            <a:solidFill>
              <a:srgbClr val="0E9F8E"/>
            </a:solidFill>
            <a:prstDash val="solid"/>
          </a:ln>
        </p:spPr>
      </p:sp>
      <p:sp>
        <p:nvSpPr>
          <p:cNvPr id="25" name="Merge 3"/>
          <p:cNvSpPr/>
          <p:nvPr/>
        </p:nvSpPr>
        <p:spPr>
          <a:xfrm>
            <a:off x="4617720" y="1783080"/>
            <a:ext cx="0" cy="1783080"/>
          </a:xfrm>
          <a:prstGeom prst="line">
            <a:avLst/>
          </a:prstGeom>
          <a:noFill/>
          <a:ln w="25400">
            <a:solidFill>
              <a:srgbClr val="0E9F8E"/>
            </a:solidFill>
            <a:prstDash val="dash"/>
          </a:ln>
        </p:spPr>
      </p:sp>
      <p:sp>
        <p:nvSpPr>
          <p:cNvPr id="26" name="Commit 3.1"/>
          <p:cNvSpPr/>
          <p:nvPr/>
        </p:nvSpPr>
        <p:spPr>
          <a:xfrm>
            <a:off x="4096512" y="3502152"/>
            <a:ext cx="128016" cy="128016"/>
          </a:xfrm>
          <a:prstGeom prst="ellipse">
            <a:avLst/>
          </a:prstGeom>
          <a:solidFill>
            <a:srgbClr val="0E9F8E"/>
          </a:solidFill>
          <a:ln w="12700">
            <a:solidFill>
              <a:srgbClr val="FFFFFF"/>
            </a:solidFill>
            <a:prstDash val="solid"/>
          </a:ln>
        </p:spPr>
      </p:sp>
      <p:sp>
        <p:nvSpPr>
          <p:cNvPr id="27" name="Commit 3.2"/>
          <p:cNvSpPr/>
          <p:nvPr/>
        </p:nvSpPr>
        <p:spPr>
          <a:xfrm>
            <a:off x="4325112" y="3502152"/>
            <a:ext cx="128016" cy="128016"/>
          </a:xfrm>
          <a:prstGeom prst="ellipse">
            <a:avLst/>
          </a:prstGeom>
          <a:solidFill>
            <a:srgbClr val="0E9F8E"/>
          </a:solidFill>
          <a:ln w="12700">
            <a:solidFill>
              <a:srgbClr val="FFFFFF"/>
            </a:solidFill>
            <a:prstDash val="solid"/>
          </a:ln>
        </p:spPr>
      </p:sp>
      <p:sp>
        <p:nvSpPr>
          <p:cNvPr id="28" name="Commit 3.3"/>
          <p:cNvSpPr/>
          <p:nvPr/>
        </p:nvSpPr>
        <p:spPr>
          <a:xfrm>
            <a:off x="4553712" y="3502152"/>
            <a:ext cx="128016" cy="128016"/>
          </a:xfrm>
          <a:prstGeom prst="ellipse">
            <a:avLst/>
          </a:prstGeom>
          <a:solidFill>
            <a:srgbClr val="0E9F8E"/>
          </a:solidFill>
          <a:ln w="12700">
            <a:solidFill>
              <a:srgbClr val="FFFFFF"/>
            </a:solidFill>
            <a:prstDash val="solid"/>
          </a:ln>
        </p:spPr>
      </p:sp>
      <p:sp>
        <p:nvSpPr>
          <p:cNvPr id="29" name="Merge commit 3"/>
          <p:cNvSpPr/>
          <p:nvPr/>
        </p:nvSpPr>
        <p:spPr>
          <a:xfrm>
            <a:off x="4526280" y="1691640"/>
            <a:ext cx="182880" cy="182880"/>
          </a:xfrm>
          <a:prstGeom prst="ellipse">
            <a:avLst/>
          </a:prstGeom>
          <a:solidFill>
            <a:srgbClr val="0F1B2D"/>
          </a:solidFill>
          <a:ln w="19050">
            <a:solidFill>
              <a:srgbClr val="FFFFFF"/>
            </a:solidFill>
            <a:prstDash val="solid"/>
          </a:ln>
        </p:spPr>
      </p:sp>
      <p:sp>
        <p:nvSpPr>
          <p:cNvPr id="30" name="Branch 4 label"/>
          <p:cNvSpPr txBox="1"/>
          <p:nvPr/>
        </p:nvSpPr>
        <p:spPr>
          <a:xfrm>
            <a:off x="548640" y="395935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docs/report-and-readme</a:t>
            </a:r>
            <a:endParaRPr lang="en-US" sz="1200" dirty="0"/>
          </a:p>
        </p:txBody>
      </p:sp>
      <p:sp>
        <p:nvSpPr>
          <p:cNvPr id="31" name="Fork 4"/>
          <p:cNvSpPr/>
          <p:nvPr/>
        </p:nvSpPr>
        <p:spPr>
          <a:xfrm>
            <a:off x="4709160" y="1783080"/>
            <a:ext cx="0" cy="2331720"/>
          </a:xfrm>
          <a:prstGeom prst="line">
            <a:avLst/>
          </a:prstGeom>
          <a:noFill/>
          <a:ln w="25400">
            <a:solidFill>
              <a:srgbClr val="3B5BDB"/>
            </a:solidFill>
            <a:prstDash val="solid"/>
          </a:ln>
        </p:spPr>
      </p:sp>
      <p:sp>
        <p:nvSpPr>
          <p:cNvPr id="32" name="Branch 4 line"/>
          <p:cNvSpPr/>
          <p:nvPr/>
        </p:nvSpPr>
        <p:spPr>
          <a:xfrm>
            <a:off x="4709160" y="4114800"/>
            <a:ext cx="457200" cy="0"/>
          </a:xfrm>
          <a:prstGeom prst="line">
            <a:avLst/>
          </a:prstGeom>
          <a:noFill/>
          <a:ln w="25400">
            <a:solidFill>
              <a:srgbClr val="3B5BDB"/>
            </a:solidFill>
            <a:prstDash val="solid"/>
          </a:ln>
        </p:spPr>
      </p:sp>
      <p:sp>
        <p:nvSpPr>
          <p:cNvPr id="33" name="Merge 4"/>
          <p:cNvSpPr/>
          <p:nvPr/>
        </p:nvSpPr>
        <p:spPr>
          <a:xfrm>
            <a:off x="5166360" y="1783080"/>
            <a:ext cx="0" cy="2331720"/>
          </a:xfrm>
          <a:prstGeom prst="line">
            <a:avLst/>
          </a:prstGeom>
          <a:noFill/>
          <a:ln w="25400">
            <a:solidFill>
              <a:srgbClr val="3B5BDB"/>
            </a:solidFill>
            <a:prstDash val="dash"/>
          </a:ln>
        </p:spPr>
      </p:sp>
      <p:sp>
        <p:nvSpPr>
          <p:cNvPr id="34" name="Commit 4.1"/>
          <p:cNvSpPr/>
          <p:nvPr/>
        </p:nvSpPr>
        <p:spPr>
          <a:xfrm>
            <a:off x="4645152" y="4050792"/>
            <a:ext cx="128016" cy="128016"/>
          </a:xfrm>
          <a:prstGeom prst="ellipse">
            <a:avLst/>
          </a:prstGeom>
          <a:solidFill>
            <a:srgbClr val="3B5BDB"/>
          </a:solidFill>
          <a:ln w="12700">
            <a:solidFill>
              <a:srgbClr val="FFFFFF"/>
            </a:solidFill>
            <a:prstDash val="solid"/>
          </a:ln>
        </p:spPr>
      </p:sp>
      <p:sp>
        <p:nvSpPr>
          <p:cNvPr id="35" name="Commit 4.2"/>
          <p:cNvSpPr/>
          <p:nvPr/>
        </p:nvSpPr>
        <p:spPr>
          <a:xfrm>
            <a:off x="4873752" y="4050792"/>
            <a:ext cx="128016" cy="128016"/>
          </a:xfrm>
          <a:prstGeom prst="ellipse">
            <a:avLst/>
          </a:prstGeom>
          <a:solidFill>
            <a:srgbClr val="3B5BDB"/>
          </a:solidFill>
          <a:ln w="12700">
            <a:solidFill>
              <a:srgbClr val="FFFFFF"/>
            </a:solidFill>
            <a:prstDash val="solid"/>
          </a:ln>
        </p:spPr>
      </p:sp>
      <p:sp>
        <p:nvSpPr>
          <p:cNvPr id="36" name="Commit 4.3"/>
          <p:cNvSpPr/>
          <p:nvPr/>
        </p:nvSpPr>
        <p:spPr>
          <a:xfrm>
            <a:off x="5102352" y="4050792"/>
            <a:ext cx="128016" cy="128016"/>
          </a:xfrm>
          <a:prstGeom prst="ellipse">
            <a:avLst/>
          </a:prstGeom>
          <a:solidFill>
            <a:srgbClr val="3B5BDB"/>
          </a:solidFill>
          <a:ln w="12700">
            <a:solidFill>
              <a:srgbClr val="FFFFFF"/>
            </a:solidFill>
            <a:prstDash val="solid"/>
          </a:ln>
        </p:spPr>
      </p:sp>
      <p:sp>
        <p:nvSpPr>
          <p:cNvPr id="37" name="Merge commit 4"/>
          <p:cNvSpPr/>
          <p:nvPr/>
        </p:nvSpPr>
        <p:spPr>
          <a:xfrm>
            <a:off x="5074920" y="1691640"/>
            <a:ext cx="182880" cy="182880"/>
          </a:xfrm>
          <a:prstGeom prst="ellipse">
            <a:avLst/>
          </a:prstGeom>
          <a:solidFill>
            <a:srgbClr val="0F1B2D"/>
          </a:solidFill>
          <a:ln w="19050">
            <a:solidFill>
              <a:srgbClr val="FFFFFF"/>
            </a:solidFill>
            <a:prstDash val="solid"/>
          </a:ln>
        </p:spPr>
      </p:sp>
      <p:sp>
        <p:nvSpPr>
          <p:cNvPr id="38" name="Branch 5 label"/>
          <p:cNvSpPr txBox="1"/>
          <p:nvPr/>
        </p:nvSpPr>
        <p:spPr>
          <a:xfrm>
            <a:off x="548640" y="450799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fix/prompt-undefined-circumstances</a:t>
            </a:r>
            <a:endParaRPr lang="en-US" sz="1200" dirty="0"/>
          </a:p>
        </p:txBody>
      </p:sp>
      <p:sp>
        <p:nvSpPr>
          <p:cNvPr id="39" name="Fork 5"/>
          <p:cNvSpPr/>
          <p:nvPr/>
        </p:nvSpPr>
        <p:spPr>
          <a:xfrm>
            <a:off x="5257800" y="1783080"/>
            <a:ext cx="0" cy="2880360"/>
          </a:xfrm>
          <a:prstGeom prst="line">
            <a:avLst/>
          </a:prstGeom>
          <a:noFill/>
          <a:ln w="25400">
            <a:solidFill>
              <a:srgbClr val="0E9F8E"/>
            </a:solidFill>
            <a:prstDash val="solid"/>
          </a:ln>
        </p:spPr>
      </p:sp>
      <p:sp>
        <p:nvSpPr>
          <p:cNvPr id="40" name="Branch 5 line"/>
          <p:cNvSpPr/>
          <p:nvPr/>
        </p:nvSpPr>
        <p:spPr>
          <a:xfrm>
            <a:off x="5257800" y="4663440"/>
            <a:ext cx="457200" cy="0"/>
          </a:xfrm>
          <a:prstGeom prst="line">
            <a:avLst/>
          </a:prstGeom>
          <a:noFill/>
          <a:ln w="25400">
            <a:solidFill>
              <a:srgbClr val="0E9F8E"/>
            </a:solidFill>
            <a:prstDash val="solid"/>
          </a:ln>
        </p:spPr>
      </p:sp>
      <p:sp>
        <p:nvSpPr>
          <p:cNvPr id="41" name="Merge 5"/>
          <p:cNvSpPr/>
          <p:nvPr/>
        </p:nvSpPr>
        <p:spPr>
          <a:xfrm>
            <a:off x="5715000" y="1783080"/>
            <a:ext cx="0" cy="2880360"/>
          </a:xfrm>
          <a:prstGeom prst="line">
            <a:avLst/>
          </a:prstGeom>
          <a:noFill/>
          <a:ln w="25400">
            <a:solidFill>
              <a:srgbClr val="0E9F8E"/>
            </a:solidFill>
            <a:prstDash val="dash"/>
          </a:ln>
        </p:spPr>
      </p:sp>
      <p:sp>
        <p:nvSpPr>
          <p:cNvPr id="42" name="Commit 5.1"/>
          <p:cNvSpPr/>
          <p:nvPr/>
        </p:nvSpPr>
        <p:spPr>
          <a:xfrm>
            <a:off x="5193792" y="4599432"/>
            <a:ext cx="128016" cy="128016"/>
          </a:xfrm>
          <a:prstGeom prst="ellipse">
            <a:avLst/>
          </a:prstGeom>
          <a:solidFill>
            <a:srgbClr val="0E9F8E"/>
          </a:solidFill>
          <a:ln w="12700">
            <a:solidFill>
              <a:srgbClr val="FFFFFF"/>
            </a:solidFill>
            <a:prstDash val="solid"/>
          </a:ln>
        </p:spPr>
      </p:sp>
      <p:sp>
        <p:nvSpPr>
          <p:cNvPr id="43" name="Commit 5.2"/>
          <p:cNvSpPr/>
          <p:nvPr/>
        </p:nvSpPr>
        <p:spPr>
          <a:xfrm>
            <a:off x="5422392" y="4599432"/>
            <a:ext cx="128016" cy="128016"/>
          </a:xfrm>
          <a:prstGeom prst="ellipse">
            <a:avLst/>
          </a:prstGeom>
          <a:solidFill>
            <a:srgbClr val="0E9F8E"/>
          </a:solidFill>
          <a:ln w="12700">
            <a:solidFill>
              <a:srgbClr val="FFFFFF"/>
            </a:solidFill>
            <a:prstDash val="solid"/>
          </a:ln>
        </p:spPr>
      </p:sp>
      <p:sp>
        <p:nvSpPr>
          <p:cNvPr id="44" name="Commit 5.3"/>
          <p:cNvSpPr/>
          <p:nvPr/>
        </p:nvSpPr>
        <p:spPr>
          <a:xfrm>
            <a:off x="5650992" y="4599432"/>
            <a:ext cx="128016" cy="128016"/>
          </a:xfrm>
          <a:prstGeom prst="ellipse">
            <a:avLst/>
          </a:prstGeom>
          <a:solidFill>
            <a:srgbClr val="0E9F8E"/>
          </a:solidFill>
          <a:ln w="12700">
            <a:solidFill>
              <a:srgbClr val="FFFFFF"/>
            </a:solidFill>
            <a:prstDash val="solid"/>
          </a:ln>
        </p:spPr>
      </p:sp>
      <p:sp>
        <p:nvSpPr>
          <p:cNvPr id="45" name="Merge commit 5"/>
          <p:cNvSpPr/>
          <p:nvPr/>
        </p:nvSpPr>
        <p:spPr>
          <a:xfrm>
            <a:off x="5623560" y="1691640"/>
            <a:ext cx="182880" cy="182880"/>
          </a:xfrm>
          <a:prstGeom prst="ellipse">
            <a:avLst/>
          </a:prstGeom>
          <a:solidFill>
            <a:srgbClr val="0F1B2D"/>
          </a:solidFill>
          <a:ln w="19050">
            <a:solidFill>
              <a:srgbClr val="FFFFFF"/>
            </a:solidFill>
            <a:prstDash val="solid"/>
          </a:ln>
        </p:spPr>
      </p:sp>
      <p:sp>
        <p:nvSpPr>
          <p:cNvPr id="46" name="Branch 6 label"/>
          <p:cNvSpPr txBox="1"/>
          <p:nvPr/>
        </p:nvSpPr>
        <p:spPr>
          <a:xfrm>
            <a:off x="548640" y="505663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chore/strip-comments</a:t>
            </a:r>
            <a:endParaRPr lang="en-US" sz="1200" dirty="0"/>
          </a:p>
        </p:txBody>
      </p:sp>
      <p:sp>
        <p:nvSpPr>
          <p:cNvPr id="47" name="Fork 6"/>
          <p:cNvSpPr/>
          <p:nvPr/>
        </p:nvSpPr>
        <p:spPr>
          <a:xfrm>
            <a:off x="5806440" y="1783080"/>
            <a:ext cx="0" cy="3429000"/>
          </a:xfrm>
          <a:prstGeom prst="line">
            <a:avLst/>
          </a:prstGeom>
          <a:noFill/>
          <a:ln w="25400">
            <a:solidFill>
              <a:srgbClr val="3B5BDB"/>
            </a:solidFill>
            <a:prstDash val="solid"/>
          </a:ln>
        </p:spPr>
      </p:sp>
      <p:sp>
        <p:nvSpPr>
          <p:cNvPr id="48" name="Branch 6 line"/>
          <p:cNvSpPr/>
          <p:nvPr/>
        </p:nvSpPr>
        <p:spPr>
          <a:xfrm>
            <a:off x="5806440" y="5212080"/>
            <a:ext cx="457200" cy="0"/>
          </a:xfrm>
          <a:prstGeom prst="line">
            <a:avLst/>
          </a:prstGeom>
          <a:noFill/>
          <a:ln w="25400">
            <a:solidFill>
              <a:srgbClr val="3B5BDB"/>
            </a:solidFill>
            <a:prstDash val="solid"/>
          </a:ln>
        </p:spPr>
      </p:sp>
      <p:sp>
        <p:nvSpPr>
          <p:cNvPr id="49" name="Merge 6"/>
          <p:cNvSpPr/>
          <p:nvPr/>
        </p:nvSpPr>
        <p:spPr>
          <a:xfrm>
            <a:off x="6263640" y="1783080"/>
            <a:ext cx="0" cy="3429000"/>
          </a:xfrm>
          <a:prstGeom prst="line">
            <a:avLst/>
          </a:prstGeom>
          <a:noFill/>
          <a:ln w="25400">
            <a:solidFill>
              <a:srgbClr val="3B5BDB"/>
            </a:solidFill>
            <a:prstDash val="dash"/>
          </a:ln>
        </p:spPr>
      </p:sp>
      <p:sp>
        <p:nvSpPr>
          <p:cNvPr id="50" name="Commit 6.1"/>
          <p:cNvSpPr/>
          <p:nvPr/>
        </p:nvSpPr>
        <p:spPr>
          <a:xfrm>
            <a:off x="5742432" y="5148072"/>
            <a:ext cx="128016" cy="128016"/>
          </a:xfrm>
          <a:prstGeom prst="ellipse">
            <a:avLst/>
          </a:prstGeom>
          <a:solidFill>
            <a:srgbClr val="3B5BDB"/>
          </a:solidFill>
          <a:ln w="12700">
            <a:solidFill>
              <a:srgbClr val="FFFFFF"/>
            </a:solidFill>
            <a:prstDash val="solid"/>
          </a:ln>
        </p:spPr>
      </p:sp>
      <p:sp>
        <p:nvSpPr>
          <p:cNvPr id="51" name="Commit 6.2"/>
          <p:cNvSpPr/>
          <p:nvPr/>
        </p:nvSpPr>
        <p:spPr>
          <a:xfrm>
            <a:off x="5971032" y="5148072"/>
            <a:ext cx="128016" cy="128016"/>
          </a:xfrm>
          <a:prstGeom prst="ellipse">
            <a:avLst/>
          </a:prstGeom>
          <a:solidFill>
            <a:srgbClr val="3B5BDB"/>
          </a:solidFill>
          <a:ln w="12700">
            <a:solidFill>
              <a:srgbClr val="FFFFFF"/>
            </a:solidFill>
            <a:prstDash val="solid"/>
          </a:ln>
        </p:spPr>
      </p:sp>
      <p:sp>
        <p:nvSpPr>
          <p:cNvPr id="52" name="Commit 6.3"/>
          <p:cNvSpPr/>
          <p:nvPr/>
        </p:nvSpPr>
        <p:spPr>
          <a:xfrm>
            <a:off x="6199632" y="5148072"/>
            <a:ext cx="128016" cy="128016"/>
          </a:xfrm>
          <a:prstGeom prst="ellipse">
            <a:avLst/>
          </a:prstGeom>
          <a:solidFill>
            <a:srgbClr val="3B5BDB"/>
          </a:solidFill>
          <a:ln w="12700">
            <a:solidFill>
              <a:srgbClr val="FFFFFF"/>
            </a:solidFill>
            <a:prstDash val="solid"/>
          </a:ln>
        </p:spPr>
      </p:sp>
      <p:sp>
        <p:nvSpPr>
          <p:cNvPr id="53" name="Merge commit 6"/>
          <p:cNvSpPr/>
          <p:nvPr/>
        </p:nvSpPr>
        <p:spPr>
          <a:xfrm>
            <a:off x="6172200" y="1691640"/>
            <a:ext cx="182880" cy="182880"/>
          </a:xfrm>
          <a:prstGeom prst="ellipse">
            <a:avLst/>
          </a:prstGeom>
          <a:solidFill>
            <a:srgbClr val="0F1B2D"/>
          </a:solidFill>
          <a:ln w="19050">
            <a:solidFill>
              <a:srgbClr val="FFFFFF"/>
            </a:solidFill>
            <a:prstDash val="solid"/>
          </a:ln>
        </p:spPr>
      </p:sp>
      <p:sp>
        <p:nvSpPr>
          <p:cNvPr id="54" name="Branch 7 label"/>
          <p:cNvSpPr txBox="1"/>
          <p:nvPr/>
        </p:nvSpPr>
        <p:spPr>
          <a:xfrm>
            <a:off x="548640" y="5605272"/>
            <a:ext cx="2423160" cy="310896"/>
          </a:xfrm>
          <a:prstGeom prst="rect">
            <a:avLst/>
          </a:prstGeom>
          <a:noFill/>
          <a:ln/>
        </p:spPr>
        <p:txBody>
          <a:bodyPr wrap="square" lIns="0" tIns="0" rIns="0" bIns="0" rtlCol="0" anchor="ctr"/>
          <a:lstStyle/>
          <a:p>
            <a:pPr indent="0" marL="0">
              <a:buNone/>
            </a:pPr>
            <a:r>
              <a:rPr lang="en-US" sz="1200" dirty="0">
                <a:solidFill>
                  <a:srgbClr val="13202F"/>
                </a:solidFill>
                <a:latin typeface="Calibri" pitchFamily="34" charset="0"/>
                <a:ea typeface="Calibri" pitchFamily="34" charset="-122"/>
                <a:cs typeface="Calibri" pitchFamily="34" charset="-120"/>
              </a:rPr>
              <a:t>docs/presentation</a:t>
            </a:r>
            <a:endParaRPr lang="en-US" sz="1200" dirty="0"/>
          </a:p>
        </p:txBody>
      </p:sp>
      <p:sp>
        <p:nvSpPr>
          <p:cNvPr id="55" name="Fork 7"/>
          <p:cNvSpPr/>
          <p:nvPr/>
        </p:nvSpPr>
        <p:spPr>
          <a:xfrm>
            <a:off x="6355080" y="1783080"/>
            <a:ext cx="0" cy="3977640"/>
          </a:xfrm>
          <a:prstGeom prst="line">
            <a:avLst/>
          </a:prstGeom>
          <a:noFill/>
          <a:ln w="25400">
            <a:solidFill>
              <a:srgbClr val="0E9F8E"/>
            </a:solidFill>
            <a:prstDash val="solid"/>
          </a:ln>
        </p:spPr>
      </p:sp>
      <p:sp>
        <p:nvSpPr>
          <p:cNvPr id="56" name="Branch 7 line"/>
          <p:cNvSpPr/>
          <p:nvPr/>
        </p:nvSpPr>
        <p:spPr>
          <a:xfrm>
            <a:off x="6355080" y="5760720"/>
            <a:ext cx="457200" cy="0"/>
          </a:xfrm>
          <a:prstGeom prst="line">
            <a:avLst/>
          </a:prstGeom>
          <a:noFill/>
          <a:ln w="25400">
            <a:solidFill>
              <a:srgbClr val="0E9F8E"/>
            </a:solidFill>
            <a:prstDash val="solid"/>
          </a:ln>
        </p:spPr>
      </p:sp>
      <p:sp>
        <p:nvSpPr>
          <p:cNvPr id="57" name="Merge 7"/>
          <p:cNvSpPr/>
          <p:nvPr/>
        </p:nvSpPr>
        <p:spPr>
          <a:xfrm>
            <a:off x="6812280" y="1783080"/>
            <a:ext cx="0" cy="3977640"/>
          </a:xfrm>
          <a:prstGeom prst="line">
            <a:avLst/>
          </a:prstGeom>
          <a:noFill/>
          <a:ln w="25400">
            <a:solidFill>
              <a:srgbClr val="0E9F8E"/>
            </a:solidFill>
            <a:prstDash val="dash"/>
          </a:ln>
        </p:spPr>
      </p:sp>
      <p:sp>
        <p:nvSpPr>
          <p:cNvPr id="58" name="Commit 7.1"/>
          <p:cNvSpPr/>
          <p:nvPr/>
        </p:nvSpPr>
        <p:spPr>
          <a:xfrm>
            <a:off x="6291072" y="5696712"/>
            <a:ext cx="128016" cy="128016"/>
          </a:xfrm>
          <a:prstGeom prst="ellipse">
            <a:avLst/>
          </a:prstGeom>
          <a:solidFill>
            <a:srgbClr val="0E9F8E"/>
          </a:solidFill>
          <a:ln w="12700">
            <a:solidFill>
              <a:srgbClr val="FFFFFF"/>
            </a:solidFill>
            <a:prstDash val="solid"/>
          </a:ln>
        </p:spPr>
      </p:sp>
      <p:sp>
        <p:nvSpPr>
          <p:cNvPr id="59" name="Commit 7.2"/>
          <p:cNvSpPr/>
          <p:nvPr/>
        </p:nvSpPr>
        <p:spPr>
          <a:xfrm>
            <a:off x="6519672" y="5696712"/>
            <a:ext cx="128016" cy="128016"/>
          </a:xfrm>
          <a:prstGeom prst="ellipse">
            <a:avLst/>
          </a:prstGeom>
          <a:solidFill>
            <a:srgbClr val="0E9F8E"/>
          </a:solidFill>
          <a:ln w="12700">
            <a:solidFill>
              <a:srgbClr val="FFFFFF"/>
            </a:solidFill>
            <a:prstDash val="solid"/>
          </a:ln>
        </p:spPr>
      </p:sp>
      <p:sp>
        <p:nvSpPr>
          <p:cNvPr id="60" name="Commit 7.3"/>
          <p:cNvSpPr/>
          <p:nvPr/>
        </p:nvSpPr>
        <p:spPr>
          <a:xfrm>
            <a:off x="6748272" y="5696712"/>
            <a:ext cx="128016" cy="128016"/>
          </a:xfrm>
          <a:prstGeom prst="ellipse">
            <a:avLst/>
          </a:prstGeom>
          <a:solidFill>
            <a:srgbClr val="0E9F8E"/>
          </a:solidFill>
          <a:ln w="12700">
            <a:solidFill>
              <a:srgbClr val="FFFFFF"/>
            </a:solidFill>
            <a:prstDash val="solid"/>
          </a:ln>
        </p:spPr>
      </p:sp>
      <p:sp>
        <p:nvSpPr>
          <p:cNvPr id="61" name="Merge commit 7"/>
          <p:cNvSpPr/>
          <p:nvPr/>
        </p:nvSpPr>
        <p:spPr>
          <a:xfrm>
            <a:off x="6720840" y="1691640"/>
            <a:ext cx="182880" cy="182880"/>
          </a:xfrm>
          <a:prstGeom prst="ellipse">
            <a:avLst/>
          </a:prstGeom>
          <a:solidFill>
            <a:srgbClr val="0F1B2D"/>
          </a:solidFill>
          <a:ln w="19050">
            <a:solidFill>
              <a:srgbClr val="FFFFFF"/>
            </a:solidFill>
            <a:prstDash val="solid"/>
          </a:ln>
        </p:spPr>
      </p:sp>
      <p:sp>
        <p:nvSpPr>
          <p:cNvPr id="62" name="Tag"/>
          <p:cNvSpPr/>
          <p:nvPr/>
        </p:nvSpPr>
        <p:spPr>
          <a:xfrm>
            <a:off x="6400800" y="1216152"/>
            <a:ext cx="868680" cy="329184"/>
          </a:xfrm>
          <a:prstGeom prst="roundRect">
            <a:avLst>
              <a:gd name="adj" fmla="val 22222"/>
            </a:avLst>
          </a:prstGeom>
          <a:solidFill>
            <a:srgbClr val="F5A524"/>
          </a:solidFill>
          <a:ln w="6350">
            <a:solidFill>
              <a:srgbClr val="F5A524"/>
            </a:solidFill>
            <a:prstDash val="solid"/>
          </a:ln>
        </p:spPr>
      </p:sp>
      <p:sp>
        <p:nvSpPr>
          <p:cNvPr id="63" name="Tag label"/>
          <p:cNvSpPr txBox="1"/>
          <p:nvPr/>
        </p:nvSpPr>
        <p:spPr>
          <a:xfrm>
            <a:off x="6400800" y="1216152"/>
            <a:ext cx="868680" cy="329184"/>
          </a:xfrm>
          <a:prstGeom prst="rect">
            <a:avLst/>
          </a:prstGeom>
          <a:noFill/>
          <a:ln/>
        </p:spPr>
        <p:txBody>
          <a:bodyPr wrap="square" lIns="0" tIns="0" rIns="0" bIns="0" rtlCol="0" anchor="ctr"/>
          <a:lstStyle/>
          <a:p>
            <a:pPr algn="ctr" indent="0" marL="0">
              <a:buNone/>
            </a:pPr>
            <a:r>
              <a:rPr lang="en-US" sz="1300" b="1" dirty="0">
                <a:solidFill>
                  <a:srgbClr val="0F1B2D"/>
                </a:solidFill>
                <a:latin typeface="Calibri" pitchFamily="34" charset="0"/>
                <a:ea typeface="Calibri" pitchFamily="34" charset="-122"/>
                <a:cs typeface="Calibri" pitchFamily="34" charset="-120"/>
              </a:rPr>
              <a:t>v1.0.0</a:t>
            </a:r>
            <a:endParaRPr lang="en-US" sz="1300" dirty="0"/>
          </a:p>
        </p:txBody>
      </p:sp>
      <p:sp>
        <p:nvSpPr>
          <p:cNvPr id="64" name="Feature panel"/>
          <p:cNvSpPr/>
          <p:nvPr/>
        </p:nvSpPr>
        <p:spPr>
          <a:xfrm>
            <a:off x="7498080" y="1371600"/>
            <a:ext cx="4114800" cy="4892040"/>
          </a:xfrm>
          <a:prstGeom prst="roundRect">
            <a:avLst>
              <a:gd name="adj" fmla="val 2667"/>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65" name="Feature title"/>
          <p:cNvSpPr txBox="1"/>
          <p:nvPr/>
        </p:nvSpPr>
        <p:spPr>
          <a:xfrm>
            <a:off x="7726680" y="1508760"/>
            <a:ext cx="36576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GitHub features used</a:t>
            </a:r>
            <a:endParaRPr lang="en-US" sz="1800" dirty="0"/>
          </a:p>
        </p:txBody>
      </p:sp>
      <p:sp>
        <p:nvSpPr>
          <p:cNvPr id="66" name="Feature 1"/>
          <p:cNvSpPr/>
          <p:nvPr/>
        </p:nvSpPr>
        <p:spPr>
          <a:xfrm>
            <a:off x="7726680" y="2139696"/>
            <a:ext cx="365760" cy="365760"/>
          </a:xfrm>
          <a:prstGeom prst="ellipse">
            <a:avLst/>
          </a:prstGeom>
          <a:solidFill>
            <a:srgbClr val="0E9F8E"/>
          </a:solidFill>
          <a:ln w="6350">
            <a:solidFill>
              <a:srgbClr val="0E9F8E"/>
            </a:solidFill>
            <a:prstDash val="solid"/>
          </a:ln>
        </p:spPr>
      </p:sp>
      <p:sp>
        <p:nvSpPr>
          <p:cNvPr id="67" name="Feature 1 label"/>
          <p:cNvSpPr txBox="1"/>
          <p:nvPr/>
        </p:nvSpPr>
        <p:spPr>
          <a:xfrm>
            <a:off x="7726680" y="2139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8" name="Feature 1 text"/>
          <p:cNvSpPr txBox="1"/>
          <p:nvPr/>
        </p:nvSpPr>
        <p:spPr>
          <a:xfrm>
            <a:off x="8229600" y="2103120"/>
            <a:ext cx="3246120" cy="594360"/>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README + docs</a:t>
            </a:r>
            <a:endParaRPr lang="en-US" sz="1500" dirty="0"/>
          </a:p>
          <a:p>
            <a:pPr indent="0" marL="0">
              <a:buNone/>
            </a:pPr>
            <a:r>
              <a:rPr lang="en-US" sz="1400" dirty="0">
                <a:solidFill>
                  <a:srgbClr val="5B6778"/>
                </a:solidFill>
                <a:latin typeface="Calibri" pitchFamily="34" charset="0"/>
                <a:ea typeface="Calibri" pitchFamily="34" charset="-122"/>
                <a:cs typeface="Calibri" pitchFamily="34" charset="-120"/>
              </a:rPr>
              <a:t>architecture, prompts, changelog</a:t>
            </a:r>
            <a:endParaRPr lang="en-US" sz="1500" dirty="0"/>
          </a:p>
        </p:txBody>
      </p:sp>
      <p:sp>
        <p:nvSpPr>
          <p:cNvPr id="69" name="Feature 2"/>
          <p:cNvSpPr/>
          <p:nvPr/>
        </p:nvSpPr>
        <p:spPr>
          <a:xfrm>
            <a:off x="7726680" y="2825496"/>
            <a:ext cx="365760" cy="365760"/>
          </a:xfrm>
          <a:prstGeom prst="ellipse">
            <a:avLst/>
          </a:prstGeom>
          <a:solidFill>
            <a:srgbClr val="0E9F8E"/>
          </a:solidFill>
          <a:ln w="6350">
            <a:solidFill>
              <a:srgbClr val="0E9F8E"/>
            </a:solidFill>
            <a:prstDash val="solid"/>
          </a:ln>
        </p:spPr>
      </p:sp>
      <p:sp>
        <p:nvSpPr>
          <p:cNvPr id="70" name="Feature 2 label"/>
          <p:cNvSpPr txBox="1"/>
          <p:nvPr/>
        </p:nvSpPr>
        <p:spPr>
          <a:xfrm>
            <a:off x="7726680" y="28254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71" name="Feature 2 text"/>
          <p:cNvSpPr txBox="1"/>
          <p:nvPr/>
        </p:nvSpPr>
        <p:spPr>
          <a:xfrm>
            <a:off x="8229600" y="2788920"/>
            <a:ext cx="3246120" cy="594360"/>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MIT licence</a:t>
            </a:r>
            <a:endParaRPr lang="en-US" sz="1500" dirty="0"/>
          </a:p>
          <a:p>
            <a:pPr indent="0" marL="0">
              <a:buNone/>
            </a:pPr>
            <a:r>
              <a:rPr lang="en-US" sz="1400" dirty="0">
                <a:solidFill>
                  <a:srgbClr val="5B6778"/>
                </a:solidFill>
                <a:latin typeface="Calibri" pitchFamily="34" charset="0"/>
                <a:ea typeface="Calibri" pitchFamily="34" charset="-122"/>
                <a:cs typeface="Calibri" pitchFamily="34" charset="-120"/>
              </a:rPr>
              <a:t>LICENSE, CONTRIBUTING</a:t>
            </a:r>
            <a:endParaRPr lang="en-US" sz="1500" dirty="0"/>
          </a:p>
        </p:txBody>
      </p:sp>
      <p:sp>
        <p:nvSpPr>
          <p:cNvPr id="72" name="Feature 3"/>
          <p:cNvSpPr/>
          <p:nvPr/>
        </p:nvSpPr>
        <p:spPr>
          <a:xfrm>
            <a:off x="7726680" y="3511296"/>
            <a:ext cx="365760" cy="365760"/>
          </a:xfrm>
          <a:prstGeom prst="ellipse">
            <a:avLst/>
          </a:prstGeom>
          <a:solidFill>
            <a:srgbClr val="0E9F8E"/>
          </a:solidFill>
          <a:ln w="6350">
            <a:solidFill>
              <a:srgbClr val="0E9F8E"/>
            </a:solidFill>
            <a:prstDash val="solid"/>
          </a:ln>
        </p:spPr>
      </p:sp>
      <p:sp>
        <p:nvSpPr>
          <p:cNvPr id="73" name="Feature 3 label"/>
          <p:cNvSpPr txBox="1"/>
          <p:nvPr/>
        </p:nvSpPr>
        <p:spPr>
          <a:xfrm>
            <a:off x="7726680" y="35112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74" name="Feature 3 text"/>
          <p:cNvSpPr txBox="1"/>
          <p:nvPr/>
        </p:nvSpPr>
        <p:spPr>
          <a:xfrm>
            <a:off x="8229600" y="3474720"/>
            <a:ext cx="3246120" cy="594360"/>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Issues</a:t>
            </a:r>
            <a:endParaRPr lang="en-US" sz="1500" dirty="0"/>
          </a:p>
          <a:p>
            <a:pPr indent="0" marL="0">
              <a:buNone/>
            </a:pPr>
            <a:r>
              <a:rPr lang="en-US" sz="1400" dirty="0">
                <a:solidFill>
                  <a:srgbClr val="5B6778"/>
                </a:solidFill>
                <a:latin typeface="Calibri" pitchFamily="34" charset="0"/>
                <a:ea typeface="Calibri" pitchFamily="34" charset="-122"/>
                <a:cs typeface="Calibri" pitchFamily="34" charset="-120"/>
              </a:rPr>
              <a:t>user stories, MoSCoW labels, milestone</a:t>
            </a:r>
            <a:endParaRPr lang="en-US" sz="1500" dirty="0"/>
          </a:p>
        </p:txBody>
      </p:sp>
      <p:sp>
        <p:nvSpPr>
          <p:cNvPr id="75" name="Feature 4"/>
          <p:cNvSpPr/>
          <p:nvPr/>
        </p:nvSpPr>
        <p:spPr>
          <a:xfrm>
            <a:off x="7726680" y="4197096"/>
            <a:ext cx="365760" cy="365760"/>
          </a:xfrm>
          <a:prstGeom prst="ellipse">
            <a:avLst/>
          </a:prstGeom>
          <a:solidFill>
            <a:srgbClr val="0E9F8E"/>
          </a:solidFill>
          <a:ln w="6350">
            <a:solidFill>
              <a:srgbClr val="0E9F8E"/>
            </a:solidFill>
            <a:prstDash val="solid"/>
          </a:ln>
        </p:spPr>
      </p:sp>
      <p:sp>
        <p:nvSpPr>
          <p:cNvPr id="76" name="Feature 4 label"/>
          <p:cNvSpPr txBox="1"/>
          <p:nvPr/>
        </p:nvSpPr>
        <p:spPr>
          <a:xfrm>
            <a:off x="7726680" y="41970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77" name="Feature 4 text"/>
          <p:cNvSpPr txBox="1"/>
          <p:nvPr/>
        </p:nvSpPr>
        <p:spPr>
          <a:xfrm>
            <a:off x="8229600" y="4160520"/>
            <a:ext cx="3246120" cy="594360"/>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Templates</a:t>
            </a:r>
            <a:endParaRPr lang="en-US" sz="1500" dirty="0"/>
          </a:p>
          <a:p>
            <a:pPr indent="0" marL="0">
              <a:buNone/>
            </a:pPr>
            <a:r>
              <a:rPr lang="en-US" sz="1400" dirty="0">
                <a:solidFill>
                  <a:srgbClr val="5B6778"/>
                </a:solidFill>
                <a:latin typeface="Calibri" pitchFamily="34" charset="0"/>
                <a:ea typeface="Calibri" pitchFamily="34" charset="-122"/>
                <a:cs typeface="Calibri" pitchFamily="34" charset="-120"/>
              </a:rPr>
              <a:t>bug / feature forms, PR checklist</a:t>
            </a:r>
            <a:endParaRPr lang="en-US" sz="1500" dirty="0"/>
          </a:p>
        </p:txBody>
      </p:sp>
      <p:sp>
        <p:nvSpPr>
          <p:cNvPr id="78" name="Feature 5"/>
          <p:cNvSpPr/>
          <p:nvPr/>
        </p:nvSpPr>
        <p:spPr>
          <a:xfrm>
            <a:off x="7726680" y="4882896"/>
            <a:ext cx="365760" cy="365760"/>
          </a:xfrm>
          <a:prstGeom prst="ellipse">
            <a:avLst/>
          </a:prstGeom>
          <a:solidFill>
            <a:srgbClr val="0E9F8E"/>
          </a:solidFill>
          <a:ln w="6350">
            <a:solidFill>
              <a:srgbClr val="0E9F8E"/>
            </a:solidFill>
            <a:prstDash val="solid"/>
          </a:ln>
        </p:spPr>
      </p:sp>
      <p:sp>
        <p:nvSpPr>
          <p:cNvPr id="79" name="Feature 5 label"/>
          <p:cNvSpPr txBox="1"/>
          <p:nvPr/>
        </p:nvSpPr>
        <p:spPr>
          <a:xfrm>
            <a:off x="7726680" y="48828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80" name="Feature 5 text"/>
          <p:cNvSpPr txBox="1"/>
          <p:nvPr/>
        </p:nvSpPr>
        <p:spPr>
          <a:xfrm>
            <a:off x="8229600" y="4846320"/>
            <a:ext cx="3246120" cy="594360"/>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Releases</a:t>
            </a:r>
            <a:endParaRPr lang="en-US" sz="1500" dirty="0"/>
          </a:p>
          <a:p>
            <a:pPr indent="0" marL="0">
              <a:buNone/>
            </a:pPr>
            <a:r>
              <a:rPr lang="en-US" sz="1400" dirty="0">
                <a:solidFill>
                  <a:srgbClr val="5B6778"/>
                </a:solidFill>
                <a:latin typeface="Calibri" pitchFamily="34" charset="0"/>
                <a:ea typeface="Calibri" pitchFamily="34" charset="-122"/>
                <a:cs typeface="Calibri" pitchFamily="34" charset="-120"/>
              </a:rPr>
              <a:t>semantic tags, GHCR image, assets</a:t>
            </a:r>
            <a:endParaRPr lang="en-US" sz="1500" dirty="0"/>
          </a:p>
        </p:txBody>
      </p:sp>
      <p:sp>
        <p:nvSpPr>
          <p:cNvPr id="81" name="Feature 6"/>
          <p:cNvSpPr/>
          <p:nvPr/>
        </p:nvSpPr>
        <p:spPr>
          <a:xfrm>
            <a:off x="7726680" y="5568696"/>
            <a:ext cx="365760" cy="365760"/>
          </a:xfrm>
          <a:prstGeom prst="ellipse">
            <a:avLst/>
          </a:prstGeom>
          <a:solidFill>
            <a:srgbClr val="0E9F8E"/>
          </a:solidFill>
          <a:ln w="6350">
            <a:solidFill>
              <a:srgbClr val="0E9F8E"/>
            </a:solidFill>
            <a:prstDash val="solid"/>
          </a:ln>
        </p:spPr>
      </p:sp>
      <p:sp>
        <p:nvSpPr>
          <p:cNvPr id="82" name="Feature 6 label"/>
          <p:cNvSpPr txBox="1"/>
          <p:nvPr/>
        </p:nvSpPr>
        <p:spPr>
          <a:xfrm>
            <a:off x="7726680" y="556869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83" name="Feature 6 text"/>
          <p:cNvSpPr txBox="1"/>
          <p:nvPr/>
        </p:nvSpPr>
        <p:spPr>
          <a:xfrm>
            <a:off x="8229600" y="5532120"/>
            <a:ext cx="3246120" cy="594360"/>
          </a:xfrm>
          <a:prstGeom prst="rect">
            <a:avLst/>
          </a:prstGeom>
          <a:noFill/>
          <a:ln/>
        </p:spPr>
        <p:txBody>
          <a:bodyPr wrap="square" lIns="0" tIns="0" rIns="0" bIns="0" rtlCol="0" anchor="t"/>
          <a:lstStyle/>
          <a:p>
            <a:pPr indent="0" marL="0">
              <a:buNone/>
            </a:pPr>
            <a:r>
              <a:rPr lang="en-US" sz="1500" b="1" dirty="0">
                <a:solidFill>
                  <a:srgbClr val="13202F"/>
                </a:solidFill>
                <a:latin typeface="Calibri" pitchFamily="34" charset="0"/>
                <a:ea typeface="Calibri" pitchFamily="34" charset="-122"/>
                <a:cs typeface="Calibri" pitchFamily="34" charset="-120"/>
              </a:rPr>
              <a:t>Automation</a:t>
            </a:r>
            <a:endParaRPr lang="en-US" sz="1500" dirty="0"/>
          </a:p>
          <a:p>
            <a:pPr indent="0" marL="0">
              <a:buNone/>
            </a:pPr>
            <a:r>
              <a:rPr lang="en-US" sz="1400" dirty="0">
                <a:solidFill>
                  <a:srgbClr val="5B6778"/>
                </a:solidFill>
                <a:latin typeface="Calibri" pitchFamily="34" charset="0"/>
                <a:ea typeface="Calibri" pitchFamily="34" charset="-122"/>
                <a:cs typeface="Calibri" pitchFamily="34" charset="-120"/>
              </a:rPr>
              <a:t>Dependabot, CodeQL, protected main</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Continuous integration and delivery</a:t>
            </a:r>
            <a:endParaRPr lang="en-US" sz="3400" dirty="0"/>
          </a:p>
        </p:txBody>
      </p:sp>
      <p:sp>
        <p:nvSpPr>
          <p:cNvPr id="4" name="Concept 1"/>
          <p:cNvSpPr/>
          <p:nvPr/>
        </p:nvSpPr>
        <p:spPr>
          <a:xfrm>
            <a:off x="548640" y="1371600"/>
            <a:ext cx="3566160" cy="2651760"/>
          </a:xfrm>
          <a:prstGeom prst="roundRect">
            <a:avLst>
              <a:gd name="adj" fmla="val 4138"/>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5" name="Concept 1 badge"/>
          <p:cNvSpPr/>
          <p:nvPr/>
        </p:nvSpPr>
        <p:spPr>
          <a:xfrm>
            <a:off x="777240" y="1554480"/>
            <a:ext cx="457200" cy="457200"/>
          </a:xfrm>
          <a:prstGeom prst="ellipse">
            <a:avLst/>
          </a:prstGeom>
          <a:solidFill>
            <a:srgbClr val="0E9F8E"/>
          </a:solidFill>
          <a:ln w="6350">
            <a:solidFill>
              <a:srgbClr val="0E9F8E"/>
            </a:solidFill>
            <a:prstDash val="solid"/>
          </a:ln>
        </p:spPr>
      </p:sp>
      <p:sp>
        <p:nvSpPr>
          <p:cNvPr id="6" name="Concept 1 badge label"/>
          <p:cNvSpPr txBox="1"/>
          <p:nvPr/>
        </p:nvSpPr>
        <p:spPr>
          <a:xfrm>
            <a:off x="77724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Concept 1 title"/>
          <p:cNvSpPr txBox="1"/>
          <p:nvPr/>
        </p:nvSpPr>
        <p:spPr>
          <a:xfrm>
            <a:off x="1371600" y="1554480"/>
            <a:ext cx="2560320" cy="45720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Continuous integration</a:t>
            </a:r>
            <a:endParaRPr lang="en-US" sz="1800" dirty="0"/>
          </a:p>
        </p:txBody>
      </p:sp>
      <p:sp>
        <p:nvSpPr>
          <p:cNvPr id="8" name="Concept 1 text"/>
          <p:cNvSpPr txBox="1"/>
          <p:nvPr/>
        </p:nvSpPr>
        <p:spPr>
          <a:xfrm>
            <a:off x="777240" y="2194560"/>
            <a:ext cx="3154680" cy="1645920"/>
          </a:xfrm>
          <a:prstGeom prst="rect">
            <a:avLst/>
          </a:prstGeom>
          <a:noFill/>
          <a:ln/>
        </p:spPr>
        <p:txBody>
          <a:bodyPr wrap="square" lIns="0" tIns="0" rIns="0" bIns="0" rtlCol="0" anchor="t"/>
          <a:lstStyle/>
          <a:p>
            <a:pPr indent="0" marL="0">
              <a:spcAft>
                <a:spcPts val="800"/>
              </a:spcAft>
              <a:buNone/>
            </a:pPr>
            <a:r>
              <a:rPr lang="en-US" sz="1500" dirty="0">
                <a:solidFill>
                  <a:srgbClr val="13202F"/>
                </a:solidFill>
                <a:latin typeface="Calibri" pitchFamily="34" charset="0"/>
                <a:ea typeface="Calibri" pitchFamily="34" charset="-122"/>
                <a:cs typeface="Calibri" pitchFamily="34" charset="-120"/>
              </a:rPr>
              <a:t>Merge often; build, lint and test every change automatically</a:t>
            </a:r>
            <a:endParaRPr lang="en-US" sz="1500" dirty="0"/>
          </a:p>
          <a:p>
            <a:pPr indent="0" marL="0">
              <a:spcAft>
                <a:spcPts val="800"/>
              </a:spcAft>
              <a:buNone/>
            </a:pPr>
            <a:r>
              <a:rPr lang="en-US" sz="1400" i="1" dirty="0">
                <a:solidFill>
                  <a:srgbClr val="5B6778"/>
                </a:solidFill>
                <a:latin typeface="Calibri" pitchFamily="34" charset="0"/>
                <a:ea typeface="Calibri" pitchFamily="34" charset="-122"/>
                <a:cs typeface="Calibri" pitchFamily="34" charset="-120"/>
              </a:rPr>
              <a:t>Early defects, small integration problems</a:t>
            </a:r>
            <a:endParaRPr lang="en-US" sz="1500" dirty="0"/>
          </a:p>
        </p:txBody>
      </p:sp>
      <p:sp>
        <p:nvSpPr>
          <p:cNvPr id="9" name="Concept 2"/>
          <p:cNvSpPr/>
          <p:nvPr/>
        </p:nvSpPr>
        <p:spPr>
          <a:xfrm>
            <a:off x="4297680" y="1371600"/>
            <a:ext cx="3566160" cy="2651760"/>
          </a:xfrm>
          <a:prstGeom prst="roundRect">
            <a:avLst>
              <a:gd name="adj" fmla="val 4138"/>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0" name="Concept 2 badge"/>
          <p:cNvSpPr/>
          <p:nvPr/>
        </p:nvSpPr>
        <p:spPr>
          <a:xfrm>
            <a:off x="4526280" y="1554480"/>
            <a:ext cx="457200" cy="457200"/>
          </a:xfrm>
          <a:prstGeom prst="ellipse">
            <a:avLst/>
          </a:prstGeom>
          <a:solidFill>
            <a:srgbClr val="3B5BDB"/>
          </a:solidFill>
          <a:ln w="6350">
            <a:solidFill>
              <a:srgbClr val="3B5BDB"/>
            </a:solidFill>
            <a:prstDash val="solid"/>
          </a:ln>
        </p:spPr>
      </p:sp>
      <p:sp>
        <p:nvSpPr>
          <p:cNvPr id="11" name="Concept 2 badge label"/>
          <p:cNvSpPr txBox="1"/>
          <p:nvPr/>
        </p:nvSpPr>
        <p:spPr>
          <a:xfrm>
            <a:off x="452628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Concept 2 title"/>
          <p:cNvSpPr txBox="1"/>
          <p:nvPr/>
        </p:nvSpPr>
        <p:spPr>
          <a:xfrm>
            <a:off x="5120640" y="1554480"/>
            <a:ext cx="2560320" cy="45720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Continuous delivery</a:t>
            </a:r>
            <a:endParaRPr lang="en-US" sz="1800" dirty="0"/>
          </a:p>
        </p:txBody>
      </p:sp>
      <p:sp>
        <p:nvSpPr>
          <p:cNvPr id="13" name="Concept 2 text"/>
          <p:cNvSpPr txBox="1"/>
          <p:nvPr/>
        </p:nvSpPr>
        <p:spPr>
          <a:xfrm>
            <a:off x="4526280" y="2194560"/>
            <a:ext cx="3154680" cy="1645920"/>
          </a:xfrm>
          <a:prstGeom prst="rect">
            <a:avLst/>
          </a:prstGeom>
          <a:noFill/>
          <a:ln/>
        </p:spPr>
        <p:txBody>
          <a:bodyPr wrap="square" lIns="0" tIns="0" rIns="0" bIns="0" rtlCol="0" anchor="t"/>
          <a:lstStyle/>
          <a:p>
            <a:pPr indent="0" marL="0">
              <a:spcAft>
                <a:spcPts val="800"/>
              </a:spcAft>
              <a:buNone/>
            </a:pPr>
            <a:r>
              <a:rPr lang="en-US" sz="1500" dirty="0">
                <a:solidFill>
                  <a:srgbClr val="13202F"/>
                </a:solidFill>
                <a:latin typeface="Calibri" pitchFamily="34" charset="0"/>
                <a:ea typeface="Calibri" pitchFamily="34" charset="-122"/>
                <a:cs typeface="Calibri" pitchFamily="34" charset="-120"/>
              </a:rPr>
              <a:t>Every change is packaged and deployable at any time</a:t>
            </a:r>
            <a:endParaRPr lang="en-US" sz="1500" dirty="0"/>
          </a:p>
          <a:p>
            <a:pPr indent="0" marL="0">
              <a:spcAft>
                <a:spcPts val="800"/>
              </a:spcAft>
              <a:buNone/>
            </a:pPr>
            <a:r>
              <a:rPr lang="en-US" sz="1400" i="1" dirty="0">
                <a:solidFill>
                  <a:srgbClr val="5B6778"/>
                </a:solidFill>
                <a:latin typeface="Calibri" pitchFamily="34" charset="0"/>
                <a:ea typeface="Calibri" pitchFamily="34" charset="-122"/>
                <a:cs typeface="Calibri" pitchFamily="34" charset="-120"/>
              </a:rPr>
              <a:t>Release stays a manual decision</a:t>
            </a:r>
            <a:endParaRPr lang="en-US" sz="1500" dirty="0"/>
          </a:p>
        </p:txBody>
      </p:sp>
      <p:sp>
        <p:nvSpPr>
          <p:cNvPr id="14" name="Concept 3"/>
          <p:cNvSpPr/>
          <p:nvPr/>
        </p:nvSpPr>
        <p:spPr>
          <a:xfrm>
            <a:off x="8046720" y="1371600"/>
            <a:ext cx="3566160" cy="2651760"/>
          </a:xfrm>
          <a:prstGeom prst="roundRect">
            <a:avLst>
              <a:gd name="adj" fmla="val 4138"/>
            </a:avLst>
          </a:prstGeom>
          <a:solidFill>
            <a:srgbClr val="FEF3DC"/>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5" name="Concept 3 badge"/>
          <p:cNvSpPr/>
          <p:nvPr/>
        </p:nvSpPr>
        <p:spPr>
          <a:xfrm>
            <a:off x="8275320" y="1554480"/>
            <a:ext cx="457200" cy="457200"/>
          </a:xfrm>
          <a:prstGeom prst="ellipse">
            <a:avLst/>
          </a:prstGeom>
          <a:solidFill>
            <a:srgbClr val="F5A524"/>
          </a:solidFill>
          <a:ln w="6350">
            <a:solidFill>
              <a:srgbClr val="F5A524"/>
            </a:solidFill>
            <a:prstDash val="solid"/>
          </a:ln>
        </p:spPr>
      </p:sp>
      <p:sp>
        <p:nvSpPr>
          <p:cNvPr id="16" name="Concept 3 badge label"/>
          <p:cNvSpPr txBox="1"/>
          <p:nvPr/>
        </p:nvSpPr>
        <p:spPr>
          <a:xfrm>
            <a:off x="8275320" y="155448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Concept 3 title"/>
          <p:cNvSpPr txBox="1"/>
          <p:nvPr/>
        </p:nvSpPr>
        <p:spPr>
          <a:xfrm>
            <a:off x="8869680" y="1554480"/>
            <a:ext cx="2560320" cy="45720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Continuous deployment</a:t>
            </a:r>
            <a:endParaRPr lang="en-US" sz="1800" dirty="0"/>
          </a:p>
        </p:txBody>
      </p:sp>
      <p:sp>
        <p:nvSpPr>
          <p:cNvPr id="18" name="Concept 3 text"/>
          <p:cNvSpPr txBox="1"/>
          <p:nvPr/>
        </p:nvSpPr>
        <p:spPr>
          <a:xfrm>
            <a:off x="8275320" y="2194560"/>
            <a:ext cx="3154680" cy="1645920"/>
          </a:xfrm>
          <a:prstGeom prst="rect">
            <a:avLst/>
          </a:prstGeom>
          <a:noFill/>
          <a:ln/>
        </p:spPr>
        <p:txBody>
          <a:bodyPr wrap="square" lIns="0" tIns="0" rIns="0" bIns="0" rtlCol="0" anchor="t"/>
          <a:lstStyle/>
          <a:p>
            <a:pPr indent="0" marL="0">
              <a:spcAft>
                <a:spcPts val="800"/>
              </a:spcAft>
              <a:buNone/>
            </a:pPr>
            <a:r>
              <a:rPr lang="en-US" sz="1500" dirty="0">
                <a:solidFill>
                  <a:srgbClr val="13202F"/>
                </a:solidFill>
                <a:latin typeface="Calibri" pitchFamily="34" charset="0"/>
                <a:ea typeface="Calibri" pitchFamily="34" charset="-122"/>
                <a:cs typeface="Calibri" pitchFamily="34" charset="-120"/>
              </a:rPr>
              <a:t>Validated changes reach production automatically</a:t>
            </a:r>
            <a:endParaRPr lang="en-US" sz="1500" dirty="0"/>
          </a:p>
          <a:p>
            <a:pPr indent="0" marL="0">
              <a:spcAft>
                <a:spcPts val="800"/>
              </a:spcAft>
              <a:buNone/>
            </a:pPr>
            <a:r>
              <a:rPr lang="en-US" sz="1400" i="1" dirty="0">
                <a:solidFill>
                  <a:srgbClr val="5B6778"/>
                </a:solidFill>
                <a:latin typeface="Calibri" pitchFamily="34" charset="0"/>
                <a:ea typeface="Calibri" pitchFamily="34" charset="-122"/>
                <a:cs typeface="Calibri" pitchFamily="34" charset="-120"/>
              </a:rPr>
              <a:t>Fast feedback, small safe releases</a:t>
            </a:r>
            <a:endParaRPr lang="en-US" sz="1500" dirty="0"/>
          </a:p>
        </p:txBody>
      </p:sp>
      <p:sp>
        <p:nvSpPr>
          <p:cNvPr id="19" name="Tools label"/>
          <p:cNvSpPr txBox="1"/>
          <p:nvPr/>
        </p:nvSpPr>
        <p:spPr>
          <a:xfrm>
            <a:off x="548640" y="4297680"/>
            <a:ext cx="5486400" cy="274320"/>
          </a:xfrm>
          <a:prstGeom prst="rect">
            <a:avLst/>
          </a:prstGeom>
          <a:noFill/>
          <a:ln/>
        </p:spPr>
        <p:txBody>
          <a:bodyPr wrap="square" lIns="0" tIns="0" rIns="0" bIns="0" rtlCol="0" anchor="ctr"/>
          <a:lstStyle/>
          <a:p>
            <a:pPr indent="0" marL="0">
              <a:buNone/>
            </a:pPr>
            <a:r>
              <a:rPr lang="en-US" sz="1200" b="1" spc="200" kern="0" dirty="0">
                <a:solidFill>
                  <a:srgbClr val="5B6778"/>
                </a:solidFill>
                <a:latin typeface="Calibri" pitchFamily="34" charset="0"/>
                <a:ea typeface="Calibri" pitchFamily="34" charset="-122"/>
                <a:cs typeface="Calibri" pitchFamily="34" charset="-120"/>
              </a:rPr>
              <a:t>TOOLS COMPARED</a:t>
            </a:r>
            <a:endParaRPr lang="en-US" sz="1200" dirty="0"/>
          </a:p>
        </p:txBody>
      </p:sp>
      <p:sp>
        <p:nvSpPr>
          <p:cNvPr id="20" name="Tool 1"/>
          <p:cNvSpPr/>
          <p:nvPr/>
        </p:nvSpPr>
        <p:spPr>
          <a:xfrm>
            <a:off x="548640" y="4663440"/>
            <a:ext cx="2651760" cy="1508760"/>
          </a:xfrm>
          <a:prstGeom prst="roundRect">
            <a:avLst>
              <a:gd name="adj" fmla="val 6061"/>
            </a:avLst>
          </a:prstGeom>
          <a:solidFill>
            <a:srgbClr val="0F1B2D"/>
          </a:solidFill>
          <a:ln w="12700">
            <a:solidFill>
              <a:srgbClr val="0F1B2D"/>
            </a:solidFill>
            <a:prstDash val="solid"/>
          </a:ln>
        </p:spPr>
      </p:sp>
      <p:sp>
        <p:nvSpPr>
          <p:cNvPr id="21" name="Tool 1 text"/>
          <p:cNvSpPr txBox="1"/>
          <p:nvPr/>
        </p:nvSpPr>
        <p:spPr>
          <a:xfrm>
            <a:off x="713232" y="4754880"/>
            <a:ext cx="2331720" cy="1325880"/>
          </a:xfrm>
          <a:prstGeom prst="rect">
            <a:avLst/>
          </a:prstGeom>
          <a:noFill/>
          <a:ln/>
        </p:spPr>
        <p:txBody>
          <a:bodyPr wrap="square" lIns="0" tIns="0" rIns="0" bIns="0" rtlCol="0" anchor="t"/>
          <a:lstStyle/>
          <a:p>
            <a:pPr indent="0" marL="0">
              <a:spcAft>
                <a:spcPts val="400"/>
              </a:spcAft>
              <a:buNone/>
            </a:pPr>
            <a:r>
              <a:rPr lang="en-US" sz="1600" b="1" dirty="0">
                <a:solidFill>
                  <a:srgbClr val="FFFFFF"/>
                </a:solidFill>
                <a:latin typeface="Calibri" pitchFamily="34" charset="0"/>
                <a:ea typeface="Calibri" pitchFamily="34" charset="-122"/>
                <a:cs typeface="Calibri" pitchFamily="34" charset="-120"/>
              </a:rPr>
              <a:t>GitHub Actions</a:t>
            </a:r>
            <a:endParaRPr lang="en-US" sz="1600" dirty="0"/>
          </a:p>
          <a:p>
            <a:pPr indent="0" marL="0">
              <a:spcAft>
                <a:spcPts val="400"/>
              </a:spcAft>
              <a:buNone/>
            </a:pPr>
            <a:r>
              <a:rPr lang="en-US" sz="1400" dirty="0">
                <a:solidFill>
                  <a:srgbClr val="C9D3E0"/>
                </a:solidFill>
                <a:latin typeface="Calibri" pitchFamily="34" charset="0"/>
                <a:ea typeface="Calibri" pitchFamily="34" charset="-122"/>
                <a:cs typeface="Calibri" pitchFamily="34" charset="-120"/>
              </a:rPr>
              <a:t>YAML next to the code, marketplace, free for public repos</a:t>
            </a:r>
            <a:endParaRPr lang="en-US" sz="1600" dirty="0"/>
          </a:p>
        </p:txBody>
      </p:sp>
      <p:sp>
        <p:nvSpPr>
          <p:cNvPr id="22" name="Tool 2"/>
          <p:cNvSpPr/>
          <p:nvPr/>
        </p:nvSpPr>
        <p:spPr>
          <a:xfrm>
            <a:off x="3337560" y="4663440"/>
            <a:ext cx="2651760" cy="1508760"/>
          </a:xfrm>
          <a:prstGeom prst="roundRect">
            <a:avLst>
              <a:gd name="adj" fmla="val 6061"/>
            </a:avLst>
          </a:prstGeom>
          <a:solidFill>
            <a:srgbClr val="FFFFFF"/>
          </a:solidFill>
          <a:ln w="12700">
            <a:solidFill>
              <a:srgbClr val="D5DBE3"/>
            </a:solidFill>
            <a:prstDash val="solid"/>
          </a:ln>
        </p:spPr>
      </p:sp>
      <p:sp>
        <p:nvSpPr>
          <p:cNvPr id="23" name="Tool 2 text"/>
          <p:cNvSpPr txBox="1"/>
          <p:nvPr/>
        </p:nvSpPr>
        <p:spPr>
          <a:xfrm>
            <a:off x="3502152" y="4754880"/>
            <a:ext cx="2331720" cy="1325880"/>
          </a:xfrm>
          <a:prstGeom prst="rect">
            <a:avLst/>
          </a:prstGeom>
          <a:noFill/>
          <a:ln/>
        </p:spPr>
        <p:txBody>
          <a:bodyPr wrap="square" lIns="0" tIns="0" rIns="0" bIns="0" rtlCol="0" anchor="t"/>
          <a:lstStyle/>
          <a:p>
            <a:pPr indent="0" marL="0">
              <a:spcAft>
                <a:spcPts val="400"/>
              </a:spcAft>
              <a:buNone/>
            </a:pPr>
            <a:r>
              <a:rPr lang="en-US" sz="1600" b="1" dirty="0">
                <a:solidFill>
                  <a:srgbClr val="0F1B2D"/>
                </a:solidFill>
                <a:latin typeface="Calibri" pitchFamily="34" charset="0"/>
                <a:ea typeface="Calibri" pitchFamily="34" charset="-122"/>
                <a:cs typeface="Calibri" pitchFamily="34" charset="-120"/>
              </a:rPr>
              <a:t>GitLab CI/CD</a:t>
            </a:r>
            <a:endParaRPr lang="en-US" sz="1600" dirty="0"/>
          </a:p>
          <a:p>
            <a:pPr indent="0" marL="0">
              <a:spcAft>
                <a:spcPts val="400"/>
              </a:spcAft>
              <a:buNone/>
            </a:pPr>
            <a:r>
              <a:rPr lang="en-US" sz="1400" dirty="0">
                <a:solidFill>
                  <a:srgbClr val="5B6778"/>
                </a:solidFill>
                <a:latin typeface="Calibri" pitchFamily="34" charset="0"/>
                <a:ea typeface="Calibri" pitchFamily="34" charset="-122"/>
                <a:cs typeface="Calibri" pitchFamily="34" charset="-120"/>
              </a:rPr>
              <a:t>built-in pipelines, strong containers</a:t>
            </a:r>
            <a:endParaRPr lang="en-US" sz="1600" dirty="0"/>
          </a:p>
        </p:txBody>
      </p:sp>
      <p:sp>
        <p:nvSpPr>
          <p:cNvPr id="24" name="Tool 3"/>
          <p:cNvSpPr/>
          <p:nvPr/>
        </p:nvSpPr>
        <p:spPr>
          <a:xfrm>
            <a:off x="6126480" y="4663440"/>
            <a:ext cx="2651760" cy="1508760"/>
          </a:xfrm>
          <a:prstGeom prst="roundRect">
            <a:avLst>
              <a:gd name="adj" fmla="val 6061"/>
            </a:avLst>
          </a:prstGeom>
          <a:solidFill>
            <a:srgbClr val="FFFFFF"/>
          </a:solidFill>
          <a:ln w="12700">
            <a:solidFill>
              <a:srgbClr val="D5DBE3"/>
            </a:solidFill>
            <a:prstDash val="solid"/>
          </a:ln>
        </p:spPr>
      </p:sp>
      <p:sp>
        <p:nvSpPr>
          <p:cNvPr id="25" name="Tool 3 text"/>
          <p:cNvSpPr txBox="1"/>
          <p:nvPr/>
        </p:nvSpPr>
        <p:spPr>
          <a:xfrm>
            <a:off x="6291072" y="4754880"/>
            <a:ext cx="2331720" cy="1325880"/>
          </a:xfrm>
          <a:prstGeom prst="rect">
            <a:avLst/>
          </a:prstGeom>
          <a:noFill/>
          <a:ln/>
        </p:spPr>
        <p:txBody>
          <a:bodyPr wrap="square" lIns="0" tIns="0" rIns="0" bIns="0" rtlCol="0" anchor="t"/>
          <a:lstStyle/>
          <a:p>
            <a:pPr indent="0" marL="0">
              <a:spcAft>
                <a:spcPts val="400"/>
              </a:spcAft>
              <a:buNone/>
            </a:pPr>
            <a:r>
              <a:rPr lang="en-US" sz="1600" b="1" dirty="0">
                <a:solidFill>
                  <a:srgbClr val="0F1B2D"/>
                </a:solidFill>
                <a:latin typeface="Calibri" pitchFamily="34" charset="0"/>
                <a:ea typeface="Calibri" pitchFamily="34" charset="-122"/>
                <a:cs typeface="Calibri" pitchFamily="34" charset="-120"/>
              </a:rPr>
              <a:t>Jenkins</a:t>
            </a:r>
            <a:endParaRPr lang="en-US" sz="1600" dirty="0"/>
          </a:p>
          <a:p>
            <a:pPr indent="0" marL="0">
              <a:spcAft>
                <a:spcPts val="400"/>
              </a:spcAft>
              <a:buNone/>
            </a:pPr>
            <a:r>
              <a:rPr lang="en-US" sz="1400" dirty="0">
                <a:solidFill>
                  <a:srgbClr val="5B6778"/>
                </a:solidFill>
                <a:latin typeface="Calibri" pitchFamily="34" charset="0"/>
                <a:ea typeface="Calibri" pitchFamily="34" charset="-122"/>
                <a:cs typeface="Calibri" pitchFamily="34" charset="-120"/>
              </a:rPr>
              <a:t>own server, plugins, full control</a:t>
            </a:r>
            <a:endParaRPr lang="en-US" sz="1600" dirty="0"/>
          </a:p>
        </p:txBody>
      </p:sp>
      <p:sp>
        <p:nvSpPr>
          <p:cNvPr id="26" name="Tool 4"/>
          <p:cNvSpPr/>
          <p:nvPr/>
        </p:nvSpPr>
        <p:spPr>
          <a:xfrm>
            <a:off x="8915400" y="4663440"/>
            <a:ext cx="2651760" cy="1508760"/>
          </a:xfrm>
          <a:prstGeom prst="roundRect">
            <a:avLst>
              <a:gd name="adj" fmla="val 6061"/>
            </a:avLst>
          </a:prstGeom>
          <a:solidFill>
            <a:srgbClr val="FFFFFF"/>
          </a:solidFill>
          <a:ln w="12700">
            <a:solidFill>
              <a:srgbClr val="D5DBE3"/>
            </a:solidFill>
            <a:prstDash val="solid"/>
          </a:ln>
        </p:spPr>
      </p:sp>
      <p:sp>
        <p:nvSpPr>
          <p:cNvPr id="27" name="Tool 4 text"/>
          <p:cNvSpPr txBox="1"/>
          <p:nvPr/>
        </p:nvSpPr>
        <p:spPr>
          <a:xfrm>
            <a:off x="9079992" y="4754880"/>
            <a:ext cx="2331720" cy="1325880"/>
          </a:xfrm>
          <a:prstGeom prst="rect">
            <a:avLst/>
          </a:prstGeom>
          <a:noFill/>
          <a:ln/>
        </p:spPr>
        <p:txBody>
          <a:bodyPr wrap="square" lIns="0" tIns="0" rIns="0" bIns="0" rtlCol="0" anchor="t"/>
          <a:lstStyle/>
          <a:p>
            <a:pPr indent="0" marL="0">
              <a:spcAft>
                <a:spcPts val="400"/>
              </a:spcAft>
              <a:buNone/>
            </a:pPr>
            <a:r>
              <a:rPr lang="en-US" sz="1600" b="1" dirty="0">
                <a:solidFill>
                  <a:srgbClr val="0F1B2D"/>
                </a:solidFill>
                <a:latin typeface="Calibri" pitchFamily="34" charset="0"/>
                <a:ea typeface="Calibri" pitchFamily="34" charset="-122"/>
                <a:cs typeface="Calibri" pitchFamily="34" charset="-120"/>
              </a:rPr>
              <a:t>Travis CI</a:t>
            </a:r>
            <a:endParaRPr lang="en-US" sz="1600" dirty="0"/>
          </a:p>
          <a:p>
            <a:pPr indent="0" marL="0">
              <a:spcAft>
                <a:spcPts val="400"/>
              </a:spcAft>
              <a:buNone/>
            </a:pPr>
            <a:r>
              <a:rPr lang="en-US" sz="1400" dirty="0">
                <a:solidFill>
                  <a:srgbClr val="5B6778"/>
                </a:solidFill>
                <a:latin typeface="Calibri" pitchFamily="34" charset="0"/>
                <a:ea typeface="Calibri" pitchFamily="34" charset="-122"/>
                <a:cs typeface="Calibri" pitchFamily="34" charset="-120"/>
              </a:rPr>
              <a:t>hosted, limited free tier today</a:t>
            </a:r>
            <a:endParaRPr lang="en-US" sz="16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CI/CD pipeline of the project</a:t>
            </a:r>
            <a:endParaRPr lang="en-US" sz="3400" dirty="0"/>
          </a:p>
        </p:txBody>
      </p:sp>
      <p:sp>
        <p:nvSpPr>
          <p:cNvPr id="4" name="Trigger"/>
          <p:cNvSpPr/>
          <p:nvPr/>
        </p:nvSpPr>
        <p:spPr>
          <a:xfrm>
            <a:off x="548640" y="2880360"/>
            <a:ext cx="1737360" cy="1005840"/>
          </a:xfrm>
          <a:prstGeom prst="roundRect">
            <a:avLst>
              <a:gd name="adj" fmla="val 9091"/>
            </a:avLst>
          </a:prstGeom>
          <a:solidFill>
            <a:srgbClr val="F1F5F9"/>
          </a:solidFill>
          <a:ln w="15875">
            <a:solidFill>
              <a:srgbClr val="5B6778"/>
            </a:solidFill>
            <a:prstDash val="solid"/>
          </a:ln>
        </p:spPr>
      </p:sp>
      <p:sp>
        <p:nvSpPr>
          <p:cNvPr id="5" name="Trigger text"/>
          <p:cNvSpPr txBox="1"/>
          <p:nvPr/>
        </p:nvSpPr>
        <p:spPr>
          <a:xfrm>
            <a:off x="548640" y="2880360"/>
            <a:ext cx="1737360" cy="10058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push / PR</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main</a:t>
            </a:r>
            <a:endParaRPr lang="en-US" sz="1400" dirty="0"/>
          </a:p>
        </p:txBody>
      </p:sp>
      <p:sp>
        <p:nvSpPr>
          <p:cNvPr id="6" name="Backend job"/>
          <p:cNvSpPr/>
          <p:nvPr/>
        </p:nvSpPr>
        <p:spPr>
          <a:xfrm>
            <a:off x="2834640" y="1463040"/>
            <a:ext cx="3566160" cy="1005840"/>
          </a:xfrm>
          <a:prstGeom prst="roundRect">
            <a:avLst>
              <a:gd name="adj" fmla="val 9091"/>
            </a:avLst>
          </a:prstGeom>
          <a:solidFill>
            <a:srgbClr val="E3F5F2"/>
          </a:solidFill>
          <a:ln w="15875">
            <a:solidFill>
              <a:srgbClr val="0E9F8E"/>
            </a:solidFill>
            <a:prstDash val="solid"/>
          </a:ln>
        </p:spPr>
      </p:sp>
      <p:sp>
        <p:nvSpPr>
          <p:cNvPr id="7" name="Backend job text"/>
          <p:cNvSpPr txBox="1"/>
          <p:nvPr/>
        </p:nvSpPr>
        <p:spPr>
          <a:xfrm>
            <a:off x="2834640" y="1463040"/>
            <a:ext cx="3566160" cy="10058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backend x 3</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Python 3.11 / 3.12 / 3.13: ruff, pytest, coverage &gt;= 80 %</a:t>
            </a:r>
            <a:endParaRPr lang="en-US" sz="1400" dirty="0"/>
          </a:p>
        </p:txBody>
      </p:sp>
      <p:sp>
        <p:nvSpPr>
          <p:cNvPr id="8" name="Frontend job"/>
          <p:cNvSpPr/>
          <p:nvPr/>
        </p:nvSpPr>
        <p:spPr>
          <a:xfrm>
            <a:off x="2834640" y="2788920"/>
            <a:ext cx="3566160" cy="1005840"/>
          </a:xfrm>
          <a:prstGeom prst="roundRect">
            <a:avLst>
              <a:gd name="adj" fmla="val 9091"/>
            </a:avLst>
          </a:prstGeom>
          <a:solidFill>
            <a:srgbClr val="E3F5F2"/>
          </a:solidFill>
          <a:ln w="15875">
            <a:solidFill>
              <a:srgbClr val="0E9F8E"/>
            </a:solidFill>
            <a:prstDash val="solid"/>
          </a:ln>
        </p:spPr>
      </p:sp>
      <p:sp>
        <p:nvSpPr>
          <p:cNvPr id="9" name="Frontend job text"/>
          <p:cNvSpPr txBox="1"/>
          <p:nvPr/>
        </p:nvSpPr>
        <p:spPr>
          <a:xfrm>
            <a:off x="2834640" y="2788920"/>
            <a:ext cx="3566160" cy="10058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frontend (Node 22)</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ESLint, Vitest + coverage, Vite build</a:t>
            </a:r>
            <a:endParaRPr lang="en-US" sz="1400" dirty="0"/>
          </a:p>
        </p:txBody>
      </p:sp>
      <p:sp>
        <p:nvSpPr>
          <p:cNvPr id="10" name="CodeQL job"/>
          <p:cNvSpPr/>
          <p:nvPr/>
        </p:nvSpPr>
        <p:spPr>
          <a:xfrm>
            <a:off x="2834640" y="4114800"/>
            <a:ext cx="3566160" cy="1005840"/>
          </a:xfrm>
          <a:prstGeom prst="roundRect">
            <a:avLst>
              <a:gd name="adj" fmla="val 9091"/>
            </a:avLst>
          </a:prstGeom>
          <a:solidFill>
            <a:srgbClr val="E8ECFD"/>
          </a:solidFill>
          <a:ln w="15875">
            <a:solidFill>
              <a:srgbClr val="3B5BDB"/>
            </a:solidFill>
            <a:prstDash val="solid"/>
          </a:ln>
        </p:spPr>
      </p:sp>
      <p:sp>
        <p:nvSpPr>
          <p:cNvPr id="11" name="CodeQL job text"/>
          <p:cNvSpPr txBox="1"/>
          <p:nvPr/>
        </p:nvSpPr>
        <p:spPr>
          <a:xfrm>
            <a:off x="2834640" y="4114800"/>
            <a:ext cx="3566160" cy="10058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CodeQL + Dependabot</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static security analysis, weekly updates</a:t>
            </a:r>
            <a:endParaRPr lang="en-US" sz="1400" dirty="0"/>
          </a:p>
        </p:txBody>
      </p:sp>
      <p:sp>
        <p:nvSpPr>
          <p:cNvPr id="12" name="Docker job"/>
          <p:cNvSpPr/>
          <p:nvPr/>
        </p:nvSpPr>
        <p:spPr>
          <a:xfrm>
            <a:off x="6949440" y="2788920"/>
            <a:ext cx="2286000" cy="1005840"/>
          </a:xfrm>
          <a:prstGeom prst="roundRect">
            <a:avLst>
              <a:gd name="adj" fmla="val 9091"/>
            </a:avLst>
          </a:prstGeom>
          <a:solidFill>
            <a:srgbClr val="E3F5F2"/>
          </a:solidFill>
          <a:ln w="15875">
            <a:solidFill>
              <a:srgbClr val="0E9F8E"/>
            </a:solidFill>
            <a:prstDash val="solid"/>
          </a:ln>
        </p:spPr>
      </p:sp>
      <p:sp>
        <p:nvSpPr>
          <p:cNvPr id="13" name="Docker job text"/>
          <p:cNvSpPr txBox="1"/>
          <p:nvPr/>
        </p:nvSpPr>
        <p:spPr>
          <a:xfrm>
            <a:off x="6949440" y="2788920"/>
            <a:ext cx="2286000" cy="10058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Docker build</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smoke test /api/health</a:t>
            </a:r>
            <a:endParaRPr lang="en-US" sz="1400" dirty="0"/>
          </a:p>
        </p:txBody>
      </p:sp>
      <p:sp>
        <p:nvSpPr>
          <p:cNvPr id="14" name="Tag"/>
          <p:cNvSpPr/>
          <p:nvPr/>
        </p:nvSpPr>
        <p:spPr>
          <a:xfrm>
            <a:off x="6949440" y="4754880"/>
            <a:ext cx="2286000" cy="777240"/>
          </a:xfrm>
          <a:prstGeom prst="roundRect">
            <a:avLst>
              <a:gd name="adj" fmla="val 11765"/>
            </a:avLst>
          </a:prstGeom>
          <a:solidFill>
            <a:srgbClr val="F1F5F9"/>
          </a:solidFill>
          <a:ln w="15875">
            <a:solidFill>
              <a:srgbClr val="5B6778"/>
            </a:solidFill>
            <a:prstDash val="solid"/>
          </a:ln>
        </p:spPr>
      </p:sp>
      <p:sp>
        <p:nvSpPr>
          <p:cNvPr id="15" name="Tag text"/>
          <p:cNvSpPr txBox="1"/>
          <p:nvPr/>
        </p:nvSpPr>
        <p:spPr>
          <a:xfrm>
            <a:off x="6949440" y="4754880"/>
            <a:ext cx="2286000" cy="7772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tag vX.Y.Z</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re-runs CI first</a:t>
            </a:r>
            <a:endParaRPr lang="en-US" sz="1400" dirty="0"/>
          </a:p>
        </p:txBody>
      </p:sp>
      <p:sp>
        <p:nvSpPr>
          <p:cNvPr id="16" name="GHCR"/>
          <p:cNvSpPr/>
          <p:nvPr/>
        </p:nvSpPr>
        <p:spPr>
          <a:xfrm>
            <a:off x="9784080" y="4160520"/>
            <a:ext cx="1828800" cy="777240"/>
          </a:xfrm>
          <a:prstGeom prst="roundRect">
            <a:avLst>
              <a:gd name="adj" fmla="val 11765"/>
            </a:avLst>
          </a:prstGeom>
          <a:solidFill>
            <a:srgbClr val="FEF3DC"/>
          </a:solidFill>
          <a:ln w="15875">
            <a:solidFill>
              <a:srgbClr val="F5A524"/>
            </a:solidFill>
            <a:prstDash val="solid"/>
          </a:ln>
        </p:spPr>
      </p:sp>
      <p:sp>
        <p:nvSpPr>
          <p:cNvPr id="17" name="GHCR text"/>
          <p:cNvSpPr txBox="1"/>
          <p:nvPr/>
        </p:nvSpPr>
        <p:spPr>
          <a:xfrm>
            <a:off x="9784080" y="4160520"/>
            <a:ext cx="1828800" cy="7772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Image to GHCR</a:t>
            </a:r>
            <a:endParaRPr lang="en-US" sz="1400" dirty="0"/>
          </a:p>
        </p:txBody>
      </p:sp>
      <p:sp>
        <p:nvSpPr>
          <p:cNvPr id="18" name="Release"/>
          <p:cNvSpPr/>
          <p:nvPr/>
        </p:nvSpPr>
        <p:spPr>
          <a:xfrm>
            <a:off x="9784080" y="5120640"/>
            <a:ext cx="1828800" cy="777240"/>
          </a:xfrm>
          <a:prstGeom prst="roundRect">
            <a:avLst>
              <a:gd name="adj" fmla="val 11765"/>
            </a:avLst>
          </a:prstGeom>
          <a:solidFill>
            <a:srgbClr val="FEF3DC"/>
          </a:solidFill>
          <a:ln w="15875">
            <a:solidFill>
              <a:srgbClr val="F5A524"/>
            </a:solidFill>
            <a:prstDash val="solid"/>
          </a:ln>
        </p:spPr>
      </p:sp>
      <p:sp>
        <p:nvSpPr>
          <p:cNvPr id="19" name="Release text"/>
          <p:cNvSpPr txBox="1"/>
          <p:nvPr/>
        </p:nvSpPr>
        <p:spPr>
          <a:xfrm>
            <a:off x="9784080" y="5120640"/>
            <a:ext cx="1828800" cy="77724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GitHub Release</a:t>
            </a:r>
            <a:endParaRPr lang="en-US" sz="1400" dirty="0"/>
          </a:p>
        </p:txBody>
      </p:sp>
      <p:sp>
        <p:nvSpPr>
          <p:cNvPr id="20" name="Shape 17"/>
          <p:cNvSpPr/>
          <p:nvPr/>
        </p:nvSpPr>
        <p:spPr>
          <a:xfrm flipV="1">
            <a:off x="2286000" y="1965960"/>
            <a:ext cx="548640" cy="1417320"/>
          </a:xfrm>
          <a:prstGeom prst="line">
            <a:avLst/>
          </a:prstGeom>
          <a:noFill/>
          <a:ln w="19050">
            <a:solidFill>
              <a:srgbClr val="5B6778"/>
            </a:solidFill>
            <a:prstDash val="solid"/>
            <a:tailEnd type="triangle"/>
          </a:ln>
        </p:spPr>
      </p:sp>
      <p:sp>
        <p:nvSpPr>
          <p:cNvPr id="21" name="Shape 18"/>
          <p:cNvSpPr/>
          <p:nvPr/>
        </p:nvSpPr>
        <p:spPr>
          <a:xfrm flipV="1">
            <a:off x="2286000" y="3291840"/>
            <a:ext cx="548640" cy="91440"/>
          </a:xfrm>
          <a:prstGeom prst="line">
            <a:avLst/>
          </a:prstGeom>
          <a:noFill/>
          <a:ln w="19050">
            <a:solidFill>
              <a:srgbClr val="5B6778"/>
            </a:solidFill>
            <a:prstDash val="solid"/>
            <a:tailEnd type="triangle"/>
          </a:ln>
        </p:spPr>
      </p:sp>
      <p:sp>
        <p:nvSpPr>
          <p:cNvPr id="22" name="Shape 19"/>
          <p:cNvSpPr/>
          <p:nvPr/>
        </p:nvSpPr>
        <p:spPr>
          <a:xfrm>
            <a:off x="2286000" y="3383280"/>
            <a:ext cx="548640" cy="1234440"/>
          </a:xfrm>
          <a:prstGeom prst="line">
            <a:avLst/>
          </a:prstGeom>
          <a:noFill/>
          <a:ln w="19050">
            <a:solidFill>
              <a:srgbClr val="5B6778"/>
            </a:solidFill>
            <a:prstDash val="solid"/>
            <a:tailEnd type="triangle"/>
          </a:ln>
        </p:spPr>
      </p:sp>
      <p:sp>
        <p:nvSpPr>
          <p:cNvPr id="23" name="Shape 20"/>
          <p:cNvSpPr/>
          <p:nvPr/>
        </p:nvSpPr>
        <p:spPr>
          <a:xfrm>
            <a:off x="6400800" y="1965960"/>
            <a:ext cx="548640" cy="1143000"/>
          </a:xfrm>
          <a:prstGeom prst="line">
            <a:avLst/>
          </a:prstGeom>
          <a:noFill/>
          <a:ln w="19050">
            <a:solidFill>
              <a:srgbClr val="5B6778"/>
            </a:solidFill>
            <a:prstDash val="solid"/>
            <a:tailEnd type="triangle"/>
          </a:ln>
        </p:spPr>
      </p:sp>
      <p:sp>
        <p:nvSpPr>
          <p:cNvPr id="24" name="Shape 21"/>
          <p:cNvSpPr/>
          <p:nvPr/>
        </p:nvSpPr>
        <p:spPr>
          <a:xfrm>
            <a:off x="6400800" y="3291840"/>
            <a:ext cx="548640" cy="0"/>
          </a:xfrm>
          <a:prstGeom prst="line">
            <a:avLst/>
          </a:prstGeom>
          <a:noFill/>
          <a:ln w="19050">
            <a:solidFill>
              <a:srgbClr val="5B6778"/>
            </a:solidFill>
            <a:prstDash val="solid"/>
            <a:tailEnd type="triangle"/>
          </a:ln>
        </p:spPr>
      </p:sp>
      <p:sp>
        <p:nvSpPr>
          <p:cNvPr id="25" name="Shape 22"/>
          <p:cNvSpPr/>
          <p:nvPr/>
        </p:nvSpPr>
        <p:spPr>
          <a:xfrm flipV="1">
            <a:off x="9235440" y="4544568"/>
            <a:ext cx="548640" cy="594360"/>
          </a:xfrm>
          <a:prstGeom prst="line">
            <a:avLst/>
          </a:prstGeom>
          <a:noFill/>
          <a:ln w="19050">
            <a:solidFill>
              <a:srgbClr val="5B6778"/>
            </a:solidFill>
            <a:prstDash val="solid"/>
            <a:tailEnd type="triangle"/>
          </a:ln>
        </p:spPr>
      </p:sp>
      <p:sp>
        <p:nvSpPr>
          <p:cNvPr id="26" name="Shape 23"/>
          <p:cNvSpPr/>
          <p:nvPr/>
        </p:nvSpPr>
        <p:spPr>
          <a:xfrm>
            <a:off x="9235440" y="5138928"/>
            <a:ext cx="548640" cy="365760"/>
          </a:xfrm>
          <a:prstGeom prst="line">
            <a:avLst/>
          </a:prstGeom>
          <a:noFill/>
          <a:ln w="19050">
            <a:solidFill>
              <a:srgbClr val="5B6778"/>
            </a:solidFill>
            <a:prstDash val="solid"/>
            <a:tailEnd type="triangle"/>
          </a:ln>
        </p:spPr>
      </p:sp>
      <p:sp>
        <p:nvSpPr>
          <p:cNvPr id="27" name="CD label"/>
          <p:cNvSpPr txBox="1"/>
          <p:nvPr/>
        </p:nvSpPr>
        <p:spPr>
          <a:xfrm>
            <a:off x="9784080" y="3840480"/>
            <a:ext cx="1828800" cy="274320"/>
          </a:xfrm>
          <a:prstGeom prst="rect">
            <a:avLst/>
          </a:prstGeom>
          <a:noFill/>
          <a:ln/>
        </p:spPr>
        <p:txBody>
          <a:bodyPr wrap="square" lIns="0" tIns="0" rIns="0" bIns="0" rtlCol="0" anchor="ctr"/>
          <a:lstStyle/>
          <a:p>
            <a:pPr indent="0" marL="0">
              <a:buNone/>
            </a:pPr>
            <a:r>
              <a:rPr lang="en-US" sz="1100" b="1" spc="100" kern="0" dirty="0">
                <a:solidFill>
                  <a:srgbClr val="F5A524"/>
                </a:solidFill>
                <a:latin typeface="Calibri" pitchFamily="34" charset="0"/>
                <a:ea typeface="Calibri" pitchFamily="34" charset="-122"/>
                <a:cs typeface="Calibri" pitchFamily="34" charset="-120"/>
              </a:rPr>
              <a:t>CONTINUOUS DELIVERY</a:t>
            </a:r>
            <a:endParaRPr lang="en-US" sz="1100" dirty="0"/>
          </a:p>
        </p:txBody>
      </p:sp>
      <p:sp>
        <p:nvSpPr>
          <p:cNvPr id="28" name="Links"/>
          <p:cNvSpPr txBox="1"/>
          <p:nvPr/>
        </p:nvSpPr>
        <p:spPr>
          <a:xfrm>
            <a:off x="548640" y="5897880"/>
            <a:ext cx="8229600" cy="365760"/>
          </a:xfrm>
          <a:prstGeom prst="rect">
            <a:avLst/>
          </a:prstGeom>
          <a:noFill/>
          <a:ln/>
        </p:spPr>
        <p:txBody>
          <a:bodyPr wrap="square" lIns="0" tIns="0" rIns="0" bIns="0" rtlCol="0" anchor="ctr"/>
          <a:lstStyle/>
          <a:p>
            <a:pPr indent="0" marL="0">
              <a:buNone/>
            </a:pPr>
            <a:r>
              <a:rPr lang="en-US" sz="1500" b="1" dirty="0">
                <a:solidFill>
                  <a:srgbClr val="13202F"/>
                </a:solidFill>
                <a:latin typeface="Calibri" pitchFamily="34" charset="0"/>
                <a:ea typeface="Calibri" pitchFamily="34" charset="-122"/>
                <a:cs typeface="Calibri" pitchFamily="34" charset="-120"/>
              </a:rPr>
              <a:t>Configuration:  </a:t>
            </a:r>
            <a:pPr indent="0" marL="0">
              <a:buNone/>
            </a:pPr>
            <a:r>
              <a:rPr lang="en-US" sz="1500" u="sng" dirty="0">
                <a:solidFill>
                  <a:srgbClr val="0B7285"/>
                </a:solidFill>
                <a:latin typeface="Calibri" pitchFamily="34" charset="0"/>
                <a:ea typeface="Calibri" pitchFamily="34" charset="-122"/>
                <a:cs typeface="Calibri" pitchFamily="34" charset="-120"/>
                <a:hlinkClick r:id="rId1" invalidUrl="" action="" tgtFrame="" tooltip="https://github.com/OrazovTairlan/asdp_dissertation/blob/main/.github/workflows/ci.yml" history="1" highlightClick="0" endSnd="0">
                  <a:extLst>
                    <a:ext uri="{A12FA001-AC4F-418D-AE19-62706E023703}">
                      <ahyp:hlinkClr xmlns:ahyp="http://schemas.microsoft.com/office/drawing/2018/hyperlinkcolor" val="tx"/>
                    </a:ext>
                  </a:extLst>
                </a:hlinkClick>
              </a:rPr>
              <a:t>ci.yml</a:t>
            </a:r>
            <a:pPr indent="0" marL="0">
              <a:buNone/>
            </a:pPr>
            <a:r>
              <a:rPr lang="en-US" sz="1500" dirty="0">
                <a:solidFill>
                  <a:srgbClr val="13202F"/>
                </a:solidFill>
                <a:latin typeface="Calibri" pitchFamily="34" charset="0"/>
                <a:ea typeface="Calibri" pitchFamily="34" charset="-122"/>
                <a:cs typeface="Calibri" pitchFamily="34" charset="-120"/>
              </a:rPr>
              <a:t>   |   </a:t>
            </a:r>
            <a:pPr indent="0" marL="0">
              <a:buNone/>
            </a:pPr>
            <a:r>
              <a:rPr lang="en-US" sz="1500" u="sng" dirty="0">
                <a:solidFill>
                  <a:srgbClr val="0B7285"/>
                </a:solidFill>
                <a:latin typeface="Calibri" pitchFamily="34" charset="0"/>
                <a:ea typeface="Calibri" pitchFamily="34" charset="-122"/>
                <a:cs typeface="Calibri" pitchFamily="34" charset="-120"/>
                <a:hlinkClick r:id="rId2" invalidUrl="" action="" tgtFrame="" tooltip="https://github.com/OrazovTairlan/asdp_dissertation/blob/main/.github/workflows/release.yml" history="1" highlightClick="0" endSnd="0">
                  <a:extLst>
                    <a:ext uri="{A12FA001-AC4F-418D-AE19-62706E023703}">
                      <ahyp:hlinkClr xmlns:ahyp="http://schemas.microsoft.com/office/drawing/2018/hyperlinkcolor" val="tx"/>
                    </a:ext>
                  </a:extLst>
                </a:hlinkClick>
              </a:rPr>
              <a:t>release.yml</a:t>
            </a:r>
            <a:pPr indent="0" marL="0">
              <a:buNone/>
            </a:pPr>
            <a:r>
              <a:rPr lang="en-US" sz="1500" dirty="0">
                <a:solidFill>
                  <a:srgbClr val="13202F"/>
                </a:solidFill>
                <a:latin typeface="Calibri" pitchFamily="34" charset="0"/>
                <a:ea typeface="Calibri" pitchFamily="34" charset="-122"/>
                <a:cs typeface="Calibri" pitchFamily="34" charset="-120"/>
              </a:rPr>
              <a:t>   |   </a:t>
            </a:r>
            <a:pPr indent="0" marL="0">
              <a:buNone/>
            </a:pPr>
            <a:r>
              <a:rPr lang="en-US" sz="1500" u="sng" dirty="0">
                <a:solidFill>
                  <a:srgbClr val="0B7285"/>
                </a:solidFill>
                <a:latin typeface="Calibri" pitchFamily="34" charset="0"/>
                <a:ea typeface="Calibri" pitchFamily="34" charset="-122"/>
                <a:cs typeface="Calibri" pitchFamily="34" charset="-120"/>
                <a:hlinkClick r:id="rId3" invalidUrl="" action="" tgtFrame="" tooltip="https://github.com/OrazovTairlan/asdp_dissertation/blob/main/.github/workflows/codeql.yml" history="1" highlightClick="0" endSnd="0">
                  <a:extLst>
                    <a:ext uri="{A12FA001-AC4F-418D-AE19-62706E023703}">
                      <ahyp:hlinkClr xmlns:ahyp="http://schemas.microsoft.com/office/drawing/2018/hyperlinkcolor" val="tx"/>
                    </a:ext>
                  </a:extLst>
                </a:hlinkClick>
              </a:rPr>
              <a:t>codeql.yml</a:t>
            </a:r>
            <a:endParaRPr lang="en-US" sz="15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Features of scientific software</a:t>
            </a:r>
            <a:endParaRPr lang="en-US" sz="3400" dirty="0"/>
          </a:p>
        </p:txBody>
      </p:sp>
      <p:sp>
        <p:nvSpPr>
          <p:cNvPr id="4" name="Area 1"/>
          <p:cNvSpPr/>
          <p:nvPr/>
        </p:nvSpPr>
        <p:spPr>
          <a:xfrm>
            <a:off x="548640" y="1371600"/>
            <a:ext cx="2651760" cy="2514600"/>
          </a:xfrm>
          <a:prstGeom prst="roundRect">
            <a:avLst>
              <a:gd name="adj" fmla="val 4364"/>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5" name="Area 1 title"/>
          <p:cNvSpPr txBox="1"/>
          <p:nvPr/>
        </p:nvSpPr>
        <p:spPr>
          <a:xfrm>
            <a:off x="731520" y="1508760"/>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Requirements</a:t>
            </a:r>
            <a:endParaRPr lang="en-US" sz="1800" dirty="0"/>
          </a:p>
        </p:txBody>
      </p:sp>
      <p:sp>
        <p:nvSpPr>
          <p:cNvPr id="6" name="Area 1 items"/>
          <p:cNvSpPr txBox="1"/>
          <p:nvPr/>
        </p:nvSpPr>
        <p:spPr>
          <a:xfrm>
            <a:off x="731520" y="2057400"/>
            <a:ext cx="233172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Reproducibility</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Transparency</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Efficiency</a:t>
            </a:r>
            <a:endParaRPr lang="en-US" sz="1500" dirty="0"/>
          </a:p>
        </p:txBody>
      </p:sp>
      <p:sp>
        <p:nvSpPr>
          <p:cNvPr id="7" name="Area 2"/>
          <p:cNvSpPr/>
          <p:nvPr/>
        </p:nvSpPr>
        <p:spPr>
          <a:xfrm>
            <a:off x="3337560" y="1371600"/>
            <a:ext cx="2651760" cy="2514600"/>
          </a:xfrm>
          <a:prstGeom prst="roundRect">
            <a:avLst>
              <a:gd name="adj" fmla="val 4364"/>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8" name="Area 2 title"/>
          <p:cNvSpPr txBox="1"/>
          <p:nvPr/>
        </p:nvSpPr>
        <p:spPr>
          <a:xfrm>
            <a:off x="3520440" y="1508760"/>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Environments</a:t>
            </a:r>
            <a:endParaRPr lang="en-US" sz="1800" dirty="0"/>
          </a:p>
        </p:txBody>
      </p:sp>
      <p:sp>
        <p:nvSpPr>
          <p:cNvPr id="9" name="Area 2 items"/>
          <p:cNvSpPr txBox="1"/>
          <p:nvPr/>
        </p:nvSpPr>
        <p:spPr>
          <a:xfrm>
            <a:off x="3520440" y="2057400"/>
            <a:ext cx="233172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venv / conda</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Lock files</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Docker</a:t>
            </a:r>
            <a:endParaRPr lang="en-US" sz="1500" dirty="0"/>
          </a:p>
        </p:txBody>
      </p:sp>
      <p:sp>
        <p:nvSpPr>
          <p:cNvPr id="10" name="Area 3"/>
          <p:cNvSpPr/>
          <p:nvPr/>
        </p:nvSpPr>
        <p:spPr>
          <a:xfrm>
            <a:off x="6126480" y="1371600"/>
            <a:ext cx="2651760" cy="2514600"/>
          </a:xfrm>
          <a:prstGeom prst="roundRect">
            <a:avLst>
              <a:gd name="adj" fmla="val 4364"/>
            </a:avLst>
          </a:prstGeom>
          <a:solidFill>
            <a:srgbClr val="FEF3DC"/>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1" name="Area 3 title"/>
          <p:cNvSpPr txBox="1"/>
          <p:nvPr/>
        </p:nvSpPr>
        <p:spPr>
          <a:xfrm>
            <a:off x="6309360" y="1508760"/>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Libraries</a:t>
            </a:r>
            <a:endParaRPr lang="en-US" sz="1800" dirty="0"/>
          </a:p>
        </p:txBody>
      </p:sp>
      <p:sp>
        <p:nvSpPr>
          <p:cNvPr id="12" name="Area 3 items"/>
          <p:cNvSpPr txBox="1"/>
          <p:nvPr/>
        </p:nvSpPr>
        <p:spPr>
          <a:xfrm>
            <a:off x="6309360" y="2057400"/>
            <a:ext cx="233172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Maintained</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Open licences</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Pinned and cited</a:t>
            </a:r>
            <a:endParaRPr lang="en-US" sz="1500" dirty="0"/>
          </a:p>
        </p:txBody>
      </p:sp>
      <p:sp>
        <p:nvSpPr>
          <p:cNvPr id="13" name="Area 4"/>
          <p:cNvSpPr/>
          <p:nvPr/>
        </p:nvSpPr>
        <p:spPr>
          <a:xfrm>
            <a:off x="8915400" y="1371600"/>
            <a:ext cx="2651760" cy="2514600"/>
          </a:xfrm>
          <a:prstGeom prst="roundRect">
            <a:avLst>
              <a:gd name="adj" fmla="val 4364"/>
            </a:avLst>
          </a:prstGeom>
          <a:solidFill>
            <a:srgbClr val="FCE8EB"/>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4" name="Area 4 title"/>
          <p:cNvSpPr txBox="1"/>
          <p:nvPr/>
        </p:nvSpPr>
        <p:spPr>
          <a:xfrm>
            <a:off x="9098280" y="1508760"/>
            <a:ext cx="2286000" cy="411480"/>
          </a:xfrm>
          <a:prstGeom prst="rect">
            <a:avLst/>
          </a:prstGeom>
          <a:noFill/>
          <a:ln/>
        </p:spPr>
        <p:txBody>
          <a:bodyPr wrap="square" lIns="0" tIns="0" rIns="0" bIns="0" rtlCol="0" anchor="ctr"/>
          <a:lstStyle/>
          <a:p>
            <a:pPr indent="0" marL="0">
              <a:buNone/>
            </a:pPr>
            <a:r>
              <a:rPr lang="en-US" sz="1800" b="1" dirty="0">
                <a:solidFill>
                  <a:srgbClr val="0F1B2D"/>
                </a:solidFill>
                <a:latin typeface="Cambria" pitchFamily="34" charset="0"/>
                <a:ea typeface="Cambria" pitchFamily="34" charset="-122"/>
                <a:cs typeface="Cambria" pitchFamily="34" charset="-120"/>
              </a:rPr>
              <a:t>Best practices</a:t>
            </a:r>
            <a:endParaRPr lang="en-US" sz="1800" dirty="0"/>
          </a:p>
        </p:txBody>
      </p:sp>
      <p:sp>
        <p:nvSpPr>
          <p:cNvPr id="15" name="Area 4 items"/>
          <p:cNvSpPr txBox="1"/>
          <p:nvPr/>
        </p:nvSpPr>
        <p:spPr>
          <a:xfrm>
            <a:off x="9098280" y="2057400"/>
            <a:ext cx="2331720" cy="16916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Version everything</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Tests of validity</a:t>
            </a:r>
            <a:endParaRPr lang="en-US" sz="1500" dirty="0"/>
          </a:p>
          <a:p>
            <a:pPr marL="342900" indent="-342900">
              <a:spcAft>
                <a:spcPts val="600"/>
              </a:spcAft>
              <a:buSzPct val="100000"/>
              <a:buChar char="•"/>
            </a:pPr>
            <a:r>
              <a:rPr lang="en-US" sz="1500" dirty="0">
                <a:solidFill>
                  <a:srgbClr val="13202F"/>
                </a:solidFill>
                <a:latin typeface="Calibri" pitchFamily="34" charset="0"/>
                <a:ea typeface="Calibri" pitchFamily="34" charset="-122"/>
                <a:cs typeface="Calibri" pitchFamily="34" charset="-120"/>
              </a:rPr>
              <a:t>Fixed seeds, FAIR docs</a:t>
            </a:r>
            <a:endParaRPr lang="en-US" sz="1500" dirty="0"/>
          </a:p>
        </p:txBody>
      </p:sp>
      <p:sp>
        <p:nvSpPr>
          <p:cNvPr id="16" name="Measures label"/>
          <p:cNvSpPr txBox="1"/>
          <p:nvPr/>
        </p:nvSpPr>
        <p:spPr>
          <a:xfrm>
            <a:off x="548640" y="4160520"/>
            <a:ext cx="7315200" cy="274320"/>
          </a:xfrm>
          <a:prstGeom prst="rect">
            <a:avLst/>
          </a:prstGeom>
          <a:noFill/>
          <a:ln/>
        </p:spPr>
        <p:txBody>
          <a:bodyPr wrap="square" lIns="0" tIns="0" rIns="0" bIns="0" rtlCol="0" anchor="ctr"/>
          <a:lstStyle/>
          <a:p>
            <a:pPr indent="0" marL="0">
              <a:buNone/>
            </a:pPr>
            <a:r>
              <a:rPr lang="en-US" sz="1200" b="1" spc="200" kern="0" dirty="0">
                <a:solidFill>
                  <a:srgbClr val="5B6778"/>
                </a:solidFill>
                <a:latin typeface="Calibri" pitchFamily="34" charset="0"/>
                <a:ea typeface="Calibri" pitchFamily="34" charset="-122"/>
                <a:cs typeface="Calibri" pitchFamily="34" charset="-120"/>
              </a:rPr>
              <a:t>REPRODUCIBILITY MEASURES IN THE PROJECT</a:t>
            </a:r>
            <a:endParaRPr lang="en-US" sz="1200" dirty="0"/>
          </a:p>
        </p:txBody>
      </p:sp>
      <p:sp>
        <p:nvSpPr>
          <p:cNvPr id="17" name="Measure 1"/>
          <p:cNvSpPr/>
          <p:nvPr/>
        </p:nvSpPr>
        <p:spPr>
          <a:xfrm>
            <a:off x="548640" y="4526280"/>
            <a:ext cx="5440680" cy="731520"/>
          </a:xfrm>
          <a:prstGeom prst="roundRect">
            <a:avLst>
              <a:gd name="adj" fmla="val 12500"/>
            </a:avLst>
          </a:prstGeom>
          <a:solidFill>
            <a:srgbClr val="0F1B2D"/>
          </a:solidFill>
          <a:ln w="6350">
            <a:solidFill>
              <a:srgbClr val="0F1B2D"/>
            </a:solidFill>
            <a:prstDash val="solid"/>
          </a:ln>
        </p:spPr>
      </p:sp>
      <p:sp>
        <p:nvSpPr>
          <p:cNvPr id="18" name="Measure 1 text"/>
          <p:cNvSpPr txBox="1"/>
          <p:nvPr/>
        </p:nvSpPr>
        <p:spPr>
          <a:xfrm>
            <a:off x="731520" y="4526280"/>
            <a:ext cx="5120640" cy="731520"/>
          </a:xfrm>
          <a:prstGeom prst="rect">
            <a:avLst/>
          </a:prstGeom>
          <a:noFill/>
          <a:ln/>
        </p:spPr>
        <p:txBody>
          <a:bodyPr wrap="square" lIns="0" tIns="0" rIns="0" bIns="0" rtlCol="0" anchor="ctr"/>
          <a:lstStyle/>
          <a:p>
            <a:pPr indent="0" marL="0">
              <a:buNone/>
            </a:pPr>
            <a:r>
              <a:rPr lang="en-US" sz="1400" b="1" dirty="0">
                <a:solidFill>
                  <a:srgbClr val="7FE0D3"/>
                </a:solidFill>
                <a:latin typeface="Calibri" pitchFamily="34" charset="0"/>
                <a:ea typeface="Calibri" pitchFamily="34" charset="-122"/>
                <a:cs typeface="Calibri" pitchFamily="34" charset="-120"/>
              </a:rPr>
              <a:t>Non-determinism:  </a:t>
            </a:r>
            <a:pPr indent="0" marL="0">
              <a:buNone/>
            </a:pPr>
            <a:r>
              <a:rPr lang="en-US" sz="1400" dirty="0">
                <a:solidFill>
                  <a:srgbClr val="FFFFFF"/>
                </a:solidFill>
                <a:latin typeface="Calibri" pitchFamily="34" charset="0"/>
                <a:ea typeface="Calibri" pitchFamily="34" charset="-122"/>
                <a:cs typeface="Calibri" pitchFamily="34" charset="-120"/>
              </a:rPr>
              <a:t>temperature 0, top_k 1, seed, response cache</a:t>
            </a:r>
            <a:endParaRPr lang="en-US" sz="1400" dirty="0"/>
          </a:p>
        </p:txBody>
      </p:sp>
      <p:sp>
        <p:nvSpPr>
          <p:cNvPr id="19" name="Measure 2"/>
          <p:cNvSpPr/>
          <p:nvPr/>
        </p:nvSpPr>
        <p:spPr>
          <a:xfrm>
            <a:off x="6126480" y="4526280"/>
            <a:ext cx="5440680" cy="731520"/>
          </a:xfrm>
          <a:prstGeom prst="roundRect">
            <a:avLst>
              <a:gd name="adj" fmla="val 12500"/>
            </a:avLst>
          </a:prstGeom>
          <a:solidFill>
            <a:srgbClr val="0F1B2D"/>
          </a:solidFill>
          <a:ln w="6350">
            <a:solidFill>
              <a:srgbClr val="0F1B2D"/>
            </a:solidFill>
            <a:prstDash val="solid"/>
          </a:ln>
        </p:spPr>
      </p:sp>
      <p:sp>
        <p:nvSpPr>
          <p:cNvPr id="20" name="Measure 2 text"/>
          <p:cNvSpPr txBox="1"/>
          <p:nvPr/>
        </p:nvSpPr>
        <p:spPr>
          <a:xfrm>
            <a:off x="6309360" y="4526280"/>
            <a:ext cx="5120640" cy="731520"/>
          </a:xfrm>
          <a:prstGeom prst="rect">
            <a:avLst/>
          </a:prstGeom>
          <a:noFill/>
          <a:ln/>
        </p:spPr>
        <p:txBody>
          <a:bodyPr wrap="square" lIns="0" tIns="0" rIns="0" bIns="0" rtlCol="0" anchor="ctr"/>
          <a:lstStyle/>
          <a:p>
            <a:pPr indent="0" marL="0">
              <a:buNone/>
            </a:pPr>
            <a:r>
              <a:rPr lang="en-US" sz="1400" b="1" dirty="0">
                <a:solidFill>
                  <a:srgbClr val="7FE0D3"/>
                </a:solidFill>
                <a:latin typeface="Calibri" pitchFamily="34" charset="0"/>
                <a:ea typeface="Calibri" pitchFamily="34" charset="-122"/>
                <a:cs typeface="Calibri" pitchFamily="34" charset="-120"/>
              </a:rPr>
              <a:t>Model / prompt drift:  </a:t>
            </a:r>
            <a:pPr indent="0" marL="0">
              <a:buNone/>
            </a:pPr>
            <a:r>
              <a:rPr lang="en-US" sz="1400" dirty="0">
                <a:solidFill>
                  <a:srgbClr val="FFFFFF"/>
                </a:solidFill>
                <a:latin typeface="Calibri" pitchFamily="34" charset="0"/>
                <a:ea typeface="Calibri" pitchFamily="34" charset="-122"/>
                <a:cs typeface="Calibri" pitchFamily="34" charset="-120"/>
              </a:rPr>
              <a:t>versioned prompts, model digest in every result</a:t>
            </a:r>
            <a:endParaRPr lang="en-US" sz="1400" dirty="0"/>
          </a:p>
        </p:txBody>
      </p:sp>
      <p:sp>
        <p:nvSpPr>
          <p:cNvPr id="21" name="Measure 3"/>
          <p:cNvSpPr/>
          <p:nvPr/>
        </p:nvSpPr>
        <p:spPr>
          <a:xfrm>
            <a:off x="548640" y="5394960"/>
            <a:ext cx="5440680" cy="731520"/>
          </a:xfrm>
          <a:prstGeom prst="roundRect">
            <a:avLst>
              <a:gd name="adj" fmla="val 12500"/>
            </a:avLst>
          </a:prstGeom>
          <a:solidFill>
            <a:srgbClr val="0F1B2D"/>
          </a:solidFill>
          <a:ln w="6350">
            <a:solidFill>
              <a:srgbClr val="0F1B2D"/>
            </a:solidFill>
            <a:prstDash val="solid"/>
          </a:ln>
        </p:spPr>
      </p:sp>
      <p:sp>
        <p:nvSpPr>
          <p:cNvPr id="22" name="Measure 3 text"/>
          <p:cNvSpPr txBox="1"/>
          <p:nvPr/>
        </p:nvSpPr>
        <p:spPr>
          <a:xfrm>
            <a:off x="731520" y="5394960"/>
            <a:ext cx="5120640" cy="731520"/>
          </a:xfrm>
          <a:prstGeom prst="rect">
            <a:avLst/>
          </a:prstGeom>
          <a:noFill/>
          <a:ln/>
        </p:spPr>
        <p:txBody>
          <a:bodyPr wrap="square" lIns="0" tIns="0" rIns="0" bIns="0" rtlCol="0" anchor="ctr"/>
          <a:lstStyle/>
          <a:p>
            <a:pPr indent="0" marL="0">
              <a:buNone/>
            </a:pPr>
            <a:r>
              <a:rPr lang="en-US" sz="1400" b="1" dirty="0">
                <a:solidFill>
                  <a:srgbClr val="7FE0D3"/>
                </a:solidFill>
                <a:latin typeface="Calibri" pitchFamily="34" charset="0"/>
                <a:ea typeface="Calibri" pitchFamily="34" charset="-122"/>
                <a:cs typeface="Calibri" pitchFamily="34" charset="-120"/>
              </a:rPr>
              <a:t>Dependency drift:  </a:t>
            </a:r>
            <a:pPr indent="0" marL="0">
              <a:buNone/>
            </a:pPr>
            <a:r>
              <a:rPr lang="en-US" sz="1400" dirty="0">
                <a:solidFill>
                  <a:srgbClr val="FFFFFF"/>
                </a:solidFill>
                <a:latin typeface="Calibri" pitchFamily="34" charset="0"/>
                <a:ea typeface="Calibri" pitchFamily="34" charset="-122"/>
                <a:cs typeface="Calibri" pitchFamily="34" charset="-120"/>
              </a:rPr>
              <a:t>lock files, CI matrix, Dependabot, Docker</a:t>
            </a:r>
            <a:endParaRPr lang="en-US" sz="1400" dirty="0"/>
          </a:p>
        </p:txBody>
      </p:sp>
      <p:sp>
        <p:nvSpPr>
          <p:cNvPr id="23" name="Measure 4"/>
          <p:cNvSpPr/>
          <p:nvPr/>
        </p:nvSpPr>
        <p:spPr>
          <a:xfrm>
            <a:off x="6126480" y="5394960"/>
            <a:ext cx="5440680" cy="731520"/>
          </a:xfrm>
          <a:prstGeom prst="roundRect">
            <a:avLst>
              <a:gd name="adj" fmla="val 12500"/>
            </a:avLst>
          </a:prstGeom>
          <a:solidFill>
            <a:srgbClr val="0F1B2D"/>
          </a:solidFill>
          <a:ln w="6350">
            <a:solidFill>
              <a:srgbClr val="0F1B2D"/>
            </a:solidFill>
            <a:prstDash val="solid"/>
          </a:ln>
        </p:spPr>
      </p:sp>
      <p:sp>
        <p:nvSpPr>
          <p:cNvPr id="24" name="Measure 4 text"/>
          <p:cNvSpPr txBox="1"/>
          <p:nvPr/>
        </p:nvSpPr>
        <p:spPr>
          <a:xfrm>
            <a:off x="6309360" y="5394960"/>
            <a:ext cx="5120640" cy="731520"/>
          </a:xfrm>
          <a:prstGeom prst="rect">
            <a:avLst/>
          </a:prstGeom>
          <a:noFill/>
          <a:ln/>
        </p:spPr>
        <p:txBody>
          <a:bodyPr wrap="square" lIns="0" tIns="0" rIns="0" bIns="0" rtlCol="0" anchor="ctr"/>
          <a:lstStyle/>
          <a:p>
            <a:pPr indent="0" marL="0">
              <a:buNone/>
            </a:pPr>
            <a:r>
              <a:rPr lang="en-US" sz="1400" b="1" dirty="0">
                <a:solidFill>
                  <a:srgbClr val="7FE0D3"/>
                </a:solidFill>
                <a:latin typeface="Calibri" pitchFamily="34" charset="0"/>
                <a:ea typeface="Calibri" pitchFamily="34" charset="-122"/>
                <a:cs typeface="Calibri" pitchFamily="34" charset="-120"/>
              </a:rPr>
              <a:t>Documentation gaps:  </a:t>
            </a:r>
            <a:pPr indent="0" marL="0">
              <a:buNone/>
            </a:pPr>
            <a:r>
              <a:rPr lang="en-US" sz="1400" dirty="0">
                <a:solidFill>
                  <a:srgbClr val="FFFFFF"/>
                </a:solidFill>
                <a:latin typeface="Calibri" pitchFamily="34" charset="0"/>
                <a:ea typeface="Calibri" pitchFamily="34" charset="-122"/>
                <a:cs typeface="Calibri" pitchFamily="34" charset="-120"/>
              </a:rPr>
              <a:t>README, architecture, prompts, CLI, samples</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The module: an untrusted LLM in a verified shell</a:t>
            </a:r>
            <a:endParaRPr lang="en-US" sz="3400" dirty="0"/>
          </a:p>
        </p:txBody>
      </p:sp>
      <p:sp>
        <p:nvSpPr>
          <p:cNvPr id="4" name="Lane 1 box 1"/>
          <p:cNvSpPr/>
          <p:nvPr/>
        </p:nvSpPr>
        <p:spPr>
          <a:xfrm>
            <a:off x="548640" y="1463040"/>
            <a:ext cx="2011680" cy="868680"/>
          </a:xfrm>
          <a:prstGeom prst="roundRect">
            <a:avLst>
              <a:gd name="adj" fmla="val 10526"/>
            </a:avLst>
          </a:prstGeom>
          <a:solidFill>
            <a:srgbClr val="E8ECFD"/>
          </a:solidFill>
          <a:ln w="15875">
            <a:solidFill>
              <a:srgbClr val="3B5BDB"/>
            </a:solidFill>
            <a:prstDash val="solid"/>
          </a:ln>
        </p:spPr>
      </p:sp>
      <p:sp>
        <p:nvSpPr>
          <p:cNvPr id="5" name="Lane 1 box 1 text"/>
          <p:cNvSpPr txBox="1"/>
          <p:nvPr/>
        </p:nvSpPr>
        <p:spPr>
          <a:xfrm>
            <a:off x="548640" y="146304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KPI regulation</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PDF / DOCX / XLSX</a:t>
            </a:r>
            <a:endParaRPr lang="en-US" sz="1400" dirty="0"/>
          </a:p>
        </p:txBody>
      </p:sp>
      <p:sp>
        <p:nvSpPr>
          <p:cNvPr id="6" name="Lane 1 box 2"/>
          <p:cNvSpPr/>
          <p:nvPr/>
        </p:nvSpPr>
        <p:spPr>
          <a:xfrm>
            <a:off x="2788920" y="1463040"/>
            <a:ext cx="2011680" cy="868680"/>
          </a:xfrm>
          <a:prstGeom prst="roundRect">
            <a:avLst>
              <a:gd name="adj" fmla="val 10526"/>
            </a:avLst>
          </a:prstGeom>
          <a:solidFill>
            <a:srgbClr val="E3F5F2"/>
          </a:solidFill>
          <a:ln w="15875">
            <a:solidFill>
              <a:srgbClr val="0E9F8E"/>
            </a:solidFill>
            <a:prstDash val="solid"/>
          </a:ln>
        </p:spPr>
      </p:sp>
      <p:sp>
        <p:nvSpPr>
          <p:cNvPr id="7" name="Lane 1 box 2 text"/>
          <p:cNvSpPr txBox="1"/>
          <p:nvPr/>
        </p:nvSpPr>
        <p:spPr>
          <a:xfrm>
            <a:off x="2788920" y="146304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Table parser</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deterministic, no LLM</a:t>
            </a:r>
            <a:endParaRPr lang="en-US" sz="1400" dirty="0"/>
          </a:p>
        </p:txBody>
      </p:sp>
      <p:sp>
        <p:nvSpPr>
          <p:cNvPr id="8" name="Lane 1 box 3"/>
          <p:cNvSpPr/>
          <p:nvPr/>
        </p:nvSpPr>
        <p:spPr>
          <a:xfrm>
            <a:off x="5029200" y="1463040"/>
            <a:ext cx="2011680" cy="868680"/>
          </a:xfrm>
          <a:prstGeom prst="roundRect">
            <a:avLst>
              <a:gd name="adj" fmla="val 10526"/>
            </a:avLst>
          </a:prstGeom>
          <a:solidFill>
            <a:srgbClr val="E8ECFD"/>
          </a:solidFill>
          <a:ln w="15875">
            <a:solidFill>
              <a:srgbClr val="3B5BDB"/>
            </a:solidFill>
            <a:prstDash val="solid"/>
          </a:ln>
        </p:spPr>
      </p:sp>
      <p:sp>
        <p:nvSpPr>
          <p:cNvPr id="9" name="Lane 1 box 3 text"/>
          <p:cNvSpPr txBox="1"/>
          <p:nvPr/>
        </p:nvSpPr>
        <p:spPr>
          <a:xfrm>
            <a:off x="5029200" y="146304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KPI catalog</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position &gt; block &gt; item</a:t>
            </a:r>
            <a:endParaRPr lang="en-US" sz="1400" dirty="0"/>
          </a:p>
        </p:txBody>
      </p:sp>
      <p:sp>
        <p:nvSpPr>
          <p:cNvPr id="10" name="Lane 1 box 4"/>
          <p:cNvSpPr/>
          <p:nvPr/>
        </p:nvSpPr>
        <p:spPr>
          <a:xfrm>
            <a:off x="7269480" y="1463040"/>
            <a:ext cx="2011680" cy="868680"/>
          </a:xfrm>
          <a:prstGeom prst="roundRect">
            <a:avLst>
              <a:gd name="adj" fmla="val 10526"/>
            </a:avLst>
          </a:prstGeom>
          <a:solidFill>
            <a:srgbClr val="E3F5F2"/>
          </a:solidFill>
          <a:ln w="15875">
            <a:solidFill>
              <a:srgbClr val="0E9F8E"/>
            </a:solidFill>
            <a:prstDash val="solid"/>
          </a:ln>
        </p:spPr>
      </p:sp>
      <p:sp>
        <p:nvSpPr>
          <p:cNvPr id="11" name="Lane 1 box 4 text"/>
          <p:cNvSpPr txBox="1"/>
          <p:nvPr/>
        </p:nvSpPr>
        <p:spPr>
          <a:xfrm>
            <a:off x="7269480" y="146304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Weights, targets</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sum = 100 % check</a:t>
            </a:r>
            <a:endParaRPr lang="en-US" sz="1400" dirty="0"/>
          </a:p>
        </p:txBody>
      </p:sp>
      <p:sp>
        <p:nvSpPr>
          <p:cNvPr id="12" name="Shape 9"/>
          <p:cNvSpPr/>
          <p:nvPr/>
        </p:nvSpPr>
        <p:spPr>
          <a:xfrm>
            <a:off x="2560320" y="1897380"/>
            <a:ext cx="228600" cy="0"/>
          </a:xfrm>
          <a:prstGeom prst="line">
            <a:avLst/>
          </a:prstGeom>
          <a:noFill/>
          <a:ln w="19050">
            <a:solidFill>
              <a:srgbClr val="5B6778"/>
            </a:solidFill>
            <a:prstDash val="solid"/>
            <a:tailEnd type="triangle"/>
          </a:ln>
        </p:spPr>
      </p:sp>
      <p:sp>
        <p:nvSpPr>
          <p:cNvPr id="13" name="Shape 10"/>
          <p:cNvSpPr/>
          <p:nvPr/>
        </p:nvSpPr>
        <p:spPr>
          <a:xfrm>
            <a:off x="4800600" y="1897380"/>
            <a:ext cx="228600" cy="0"/>
          </a:xfrm>
          <a:prstGeom prst="line">
            <a:avLst/>
          </a:prstGeom>
          <a:noFill/>
          <a:ln w="19050">
            <a:solidFill>
              <a:srgbClr val="5B6778"/>
            </a:solidFill>
            <a:prstDash val="solid"/>
            <a:tailEnd type="triangle"/>
          </a:ln>
        </p:spPr>
      </p:sp>
      <p:sp>
        <p:nvSpPr>
          <p:cNvPr id="14" name="Shape 11"/>
          <p:cNvSpPr/>
          <p:nvPr/>
        </p:nvSpPr>
        <p:spPr>
          <a:xfrm>
            <a:off x="7040880" y="1897380"/>
            <a:ext cx="228600" cy="0"/>
          </a:xfrm>
          <a:prstGeom prst="line">
            <a:avLst/>
          </a:prstGeom>
          <a:noFill/>
          <a:ln w="19050">
            <a:solidFill>
              <a:srgbClr val="5B6778"/>
            </a:solidFill>
            <a:prstDash val="solid"/>
            <a:tailEnd type="triangle"/>
          </a:ln>
        </p:spPr>
      </p:sp>
      <p:sp>
        <p:nvSpPr>
          <p:cNvPr id="15" name="Lane 2 box 1"/>
          <p:cNvSpPr/>
          <p:nvPr/>
        </p:nvSpPr>
        <p:spPr>
          <a:xfrm>
            <a:off x="548640" y="2926080"/>
            <a:ext cx="2011680" cy="868680"/>
          </a:xfrm>
          <a:prstGeom prst="roundRect">
            <a:avLst>
              <a:gd name="adj" fmla="val 10526"/>
            </a:avLst>
          </a:prstGeom>
          <a:solidFill>
            <a:srgbClr val="E8ECFD"/>
          </a:solidFill>
          <a:ln w="15875">
            <a:solidFill>
              <a:srgbClr val="3B5BDB"/>
            </a:solidFill>
            <a:prstDash val="solid"/>
          </a:ln>
        </p:spPr>
      </p:sp>
      <p:sp>
        <p:nvSpPr>
          <p:cNvPr id="16" name="Lane 2 box 1 text"/>
          <p:cNvSpPr txBox="1"/>
          <p:nvPr/>
        </p:nvSpPr>
        <p:spPr>
          <a:xfrm>
            <a:off x="548640" y="292608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Employee report</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PDF / DOCX / TXT</a:t>
            </a:r>
            <a:endParaRPr lang="en-US" sz="1400" dirty="0"/>
          </a:p>
        </p:txBody>
      </p:sp>
      <p:sp>
        <p:nvSpPr>
          <p:cNvPr id="17" name="Lane 2 box 2"/>
          <p:cNvSpPr/>
          <p:nvPr/>
        </p:nvSpPr>
        <p:spPr>
          <a:xfrm>
            <a:off x="2788920" y="2926080"/>
            <a:ext cx="2011680" cy="868680"/>
          </a:xfrm>
          <a:prstGeom prst="roundRect">
            <a:avLst>
              <a:gd name="adj" fmla="val 10526"/>
            </a:avLst>
          </a:prstGeom>
          <a:solidFill>
            <a:srgbClr val="FEF3DC"/>
          </a:solidFill>
          <a:ln w="15875">
            <a:solidFill>
              <a:srgbClr val="F5A524"/>
            </a:solidFill>
            <a:prstDash val="solid"/>
          </a:ln>
        </p:spPr>
      </p:sp>
      <p:sp>
        <p:nvSpPr>
          <p:cNvPr id="18" name="Lane 2 box 2 text"/>
          <p:cNvSpPr txBox="1"/>
          <p:nvPr/>
        </p:nvSpPr>
        <p:spPr>
          <a:xfrm>
            <a:off x="2788920" y="292608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LLM: achievements</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verbatim quotes</a:t>
            </a:r>
            <a:endParaRPr lang="en-US" sz="1400" dirty="0"/>
          </a:p>
        </p:txBody>
      </p:sp>
      <p:sp>
        <p:nvSpPr>
          <p:cNvPr id="19" name="Lane 2 box 3"/>
          <p:cNvSpPr/>
          <p:nvPr/>
        </p:nvSpPr>
        <p:spPr>
          <a:xfrm>
            <a:off x="5029200" y="2926080"/>
            <a:ext cx="2011680" cy="868680"/>
          </a:xfrm>
          <a:prstGeom prst="roundRect">
            <a:avLst>
              <a:gd name="adj" fmla="val 10526"/>
            </a:avLst>
          </a:prstGeom>
          <a:solidFill>
            <a:srgbClr val="FEF3DC"/>
          </a:solidFill>
          <a:ln w="15875">
            <a:solidFill>
              <a:srgbClr val="F5A524"/>
            </a:solidFill>
            <a:prstDash val="solid"/>
          </a:ln>
        </p:spPr>
      </p:sp>
      <p:sp>
        <p:nvSpPr>
          <p:cNvPr id="20" name="Lane 2 box 3 text"/>
          <p:cNvSpPr txBox="1"/>
          <p:nvPr/>
        </p:nvSpPr>
        <p:spPr>
          <a:xfrm>
            <a:off x="5029200" y="292608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LLM: conditions</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quote per condition</a:t>
            </a:r>
            <a:endParaRPr lang="en-US" sz="1400" dirty="0"/>
          </a:p>
        </p:txBody>
      </p:sp>
      <p:sp>
        <p:nvSpPr>
          <p:cNvPr id="21" name="Lane 2 box 4"/>
          <p:cNvSpPr/>
          <p:nvPr/>
        </p:nvSpPr>
        <p:spPr>
          <a:xfrm>
            <a:off x="7269480" y="2926080"/>
            <a:ext cx="2011680" cy="868680"/>
          </a:xfrm>
          <a:prstGeom prst="roundRect">
            <a:avLst>
              <a:gd name="adj" fmla="val 10526"/>
            </a:avLst>
          </a:prstGeom>
          <a:solidFill>
            <a:srgbClr val="E3F5F2"/>
          </a:solidFill>
          <a:ln w="15875">
            <a:solidFill>
              <a:srgbClr val="0E9F8E"/>
            </a:solidFill>
            <a:prstDash val="solid"/>
          </a:ln>
        </p:spPr>
      </p:sp>
      <p:sp>
        <p:nvSpPr>
          <p:cNvPr id="22" name="Lane 2 box 4 text"/>
          <p:cNvSpPr txBox="1"/>
          <p:nvPr/>
        </p:nvSpPr>
        <p:spPr>
          <a:xfrm>
            <a:off x="7269480" y="292608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Code decides</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quotes verified, counts</a:t>
            </a:r>
            <a:endParaRPr lang="en-US" sz="1400" dirty="0"/>
          </a:p>
        </p:txBody>
      </p:sp>
      <p:sp>
        <p:nvSpPr>
          <p:cNvPr id="23" name="Shape 20"/>
          <p:cNvSpPr/>
          <p:nvPr/>
        </p:nvSpPr>
        <p:spPr>
          <a:xfrm>
            <a:off x="2560320" y="3360420"/>
            <a:ext cx="228600" cy="0"/>
          </a:xfrm>
          <a:prstGeom prst="line">
            <a:avLst/>
          </a:prstGeom>
          <a:noFill/>
          <a:ln w="19050">
            <a:solidFill>
              <a:srgbClr val="5B6778"/>
            </a:solidFill>
            <a:prstDash val="solid"/>
            <a:tailEnd type="triangle"/>
          </a:ln>
        </p:spPr>
      </p:sp>
      <p:sp>
        <p:nvSpPr>
          <p:cNvPr id="24" name="Shape 21"/>
          <p:cNvSpPr/>
          <p:nvPr/>
        </p:nvSpPr>
        <p:spPr>
          <a:xfrm>
            <a:off x="4800600" y="3360420"/>
            <a:ext cx="228600" cy="0"/>
          </a:xfrm>
          <a:prstGeom prst="line">
            <a:avLst/>
          </a:prstGeom>
          <a:noFill/>
          <a:ln w="19050">
            <a:solidFill>
              <a:srgbClr val="5B6778"/>
            </a:solidFill>
            <a:prstDash val="solid"/>
            <a:tailEnd type="triangle"/>
          </a:ln>
        </p:spPr>
      </p:sp>
      <p:sp>
        <p:nvSpPr>
          <p:cNvPr id="25" name="Shape 22"/>
          <p:cNvSpPr/>
          <p:nvPr/>
        </p:nvSpPr>
        <p:spPr>
          <a:xfrm>
            <a:off x="7040880" y="3360420"/>
            <a:ext cx="228600" cy="0"/>
          </a:xfrm>
          <a:prstGeom prst="line">
            <a:avLst/>
          </a:prstGeom>
          <a:noFill/>
          <a:ln w="19050">
            <a:solidFill>
              <a:srgbClr val="5B6778"/>
            </a:solidFill>
            <a:prstDash val="solid"/>
            <a:tailEnd type="triangle"/>
          </a:ln>
        </p:spPr>
      </p:sp>
      <p:sp>
        <p:nvSpPr>
          <p:cNvPr id="26" name="Lane 3 box 1"/>
          <p:cNvSpPr/>
          <p:nvPr/>
        </p:nvSpPr>
        <p:spPr>
          <a:xfrm>
            <a:off x="548640" y="4389120"/>
            <a:ext cx="2011680" cy="868680"/>
          </a:xfrm>
          <a:prstGeom prst="roundRect">
            <a:avLst>
              <a:gd name="adj" fmla="val 10526"/>
            </a:avLst>
          </a:prstGeom>
          <a:solidFill>
            <a:srgbClr val="E8ECFD"/>
          </a:solidFill>
          <a:ln w="15875">
            <a:solidFill>
              <a:srgbClr val="3B5BDB"/>
            </a:solidFill>
            <a:prstDash val="solid"/>
          </a:ln>
        </p:spPr>
      </p:sp>
      <p:sp>
        <p:nvSpPr>
          <p:cNvPr id="27" name="Lane 3 box 1 text"/>
          <p:cNvSpPr txBox="1"/>
          <p:nvPr/>
        </p:nvSpPr>
        <p:spPr>
          <a:xfrm>
            <a:off x="548640" y="438912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Evidence images</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certificates, photos</a:t>
            </a:r>
            <a:endParaRPr lang="en-US" sz="1400" dirty="0"/>
          </a:p>
        </p:txBody>
      </p:sp>
      <p:sp>
        <p:nvSpPr>
          <p:cNvPr id="28" name="Lane 3 box 2"/>
          <p:cNvSpPr/>
          <p:nvPr/>
        </p:nvSpPr>
        <p:spPr>
          <a:xfrm>
            <a:off x="2788920" y="4389120"/>
            <a:ext cx="2011680" cy="868680"/>
          </a:xfrm>
          <a:prstGeom prst="roundRect">
            <a:avLst>
              <a:gd name="adj" fmla="val 10526"/>
            </a:avLst>
          </a:prstGeom>
          <a:solidFill>
            <a:srgbClr val="FCE8EB"/>
          </a:solidFill>
          <a:ln w="15875">
            <a:solidFill>
              <a:srgbClr val="D9485F"/>
            </a:solidFill>
            <a:prstDash val="solid"/>
          </a:ln>
        </p:spPr>
      </p:sp>
      <p:sp>
        <p:nvSpPr>
          <p:cNvPr id="29" name="Lane 3 box 2 text"/>
          <p:cNvSpPr txBox="1"/>
          <p:nvPr/>
        </p:nvSpPr>
        <p:spPr>
          <a:xfrm>
            <a:off x="2788920" y="438912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CV checks</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blur, EXIF, ELA, noise</a:t>
            </a:r>
            <a:endParaRPr lang="en-US" sz="1400" dirty="0"/>
          </a:p>
        </p:txBody>
      </p:sp>
      <p:sp>
        <p:nvSpPr>
          <p:cNvPr id="30" name="Lane 3 box 3"/>
          <p:cNvSpPr/>
          <p:nvPr/>
        </p:nvSpPr>
        <p:spPr>
          <a:xfrm>
            <a:off x="5029200" y="4389120"/>
            <a:ext cx="2011680" cy="868680"/>
          </a:xfrm>
          <a:prstGeom prst="roundRect">
            <a:avLst>
              <a:gd name="adj" fmla="val 10526"/>
            </a:avLst>
          </a:prstGeom>
          <a:solidFill>
            <a:srgbClr val="FEF3DC"/>
          </a:solidFill>
          <a:ln w="15875">
            <a:solidFill>
              <a:srgbClr val="F5A524"/>
            </a:solidFill>
            <a:prstDash val="solid"/>
          </a:ln>
        </p:spPr>
      </p:sp>
      <p:sp>
        <p:nvSpPr>
          <p:cNvPr id="31" name="Lane 3 box 3 text"/>
          <p:cNvSpPr txBox="1"/>
          <p:nvPr/>
        </p:nvSpPr>
        <p:spPr>
          <a:xfrm>
            <a:off x="5029200" y="438912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Vision LLM</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description + OCR</a:t>
            </a:r>
            <a:endParaRPr lang="en-US" sz="1400" dirty="0"/>
          </a:p>
        </p:txBody>
      </p:sp>
      <p:sp>
        <p:nvSpPr>
          <p:cNvPr id="32" name="Lane 3 box 4"/>
          <p:cNvSpPr/>
          <p:nvPr/>
        </p:nvSpPr>
        <p:spPr>
          <a:xfrm>
            <a:off x="7269480" y="4389120"/>
            <a:ext cx="2011680" cy="868680"/>
          </a:xfrm>
          <a:prstGeom prst="roundRect">
            <a:avLst>
              <a:gd name="adj" fmla="val 10526"/>
            </a:avLst>
          </a:prstGeom>
          <a:solidFill>
            <a:srgbClr val="FEF3DC"/>
          </a:solidFill>
          <a:ln w="15875">
            <a:solidFill>
              <a:srgbClr val="F5A524"/>
            </a:solidFill>
            <a:prstDash val="solid"/>
          </a:ln>
        </p:spPr>
      </p:sp>
      <p:sp>
        <p:nvSpPr>
          <p:cNvPr id="33" name="Lane 3 box 4 text"/>
          <p:cNvSpPr txBox="1"/>
          <p:nvPr/>
        </p:nvSpPr>
        <p:spPr>
          <a:xfrm>
            <a:off x="7269480" y="4389120"/>
            <a:ext cx="2011680" cy="868680"/>
          </a:xfrm>
          <a:prstGeom prst="rect">
            <a:avLst/>
          </a:prstGeom>
          <a:noFill/>
          <a:ln/>
        </p:spPr>
        <p:txBody>
          <a:bodyPr wrap="square" lIns="50800" tIns="50800" rIns="50800" bIns="50800" rtlCol="0" anchor="ctr"/>
          <a:lstStyle/>
          <a:p>
            <a:pPr algn="ctr" indent="0" marL="0">
              <a:buNone/>
            </a:pPr>
            <a:r>
              <a:rPr lang="en-US" sz="1400" b="1" dirty="0">
                <a:solidFill>
                  <a:srgbClr val="13202F"/>
                </a:solidFill>
                <a:latin typeface="Calibri" pitchFamily="34" charset="0"/>
                <a:ea typeface="Calibri" pitchFamily="34" charset="-122"/>
                <a:cs typeface="Calibri" pitchFamily="34" charset="-120"/>
              </a:rPr>
              <a:t>KPI + Excel</a:t>
            </a:r>
            <a:endParaRPr lang="en-US" sz="1400" dirty="0"/>
          </a:p>
          <a:p>
            <a:pPr algn="ctr" indent="0" marL="0">
              <a:buNone/>
            </a:pPr>
            <a:r>
              <a:rPr lang="en-US" sz="1200" dirty="0">
                <a:solidFill>
                  <a:srgbClr val="5B6778"/>
                </a:solidFill>
                <a:latin typeface="Calibri" pitchFamily="34" charset="0"/>
                <a:ea typeface="Calibri" pitchFamily="34" charset="-122"/>
                <a:cs typeface="Calibri" pitchFamily="34" charset="-120"/>
              </a:rPr>
              <a:t>damaged: human review</a:t>
            </a:r>
            <a:endParaRPr lang="en-US" sz="1400" dirty="0"/>
          </a:p>
        </p:txBody>
      </p:sp>
      <p:sp>
        <p:nvSpPr>
          <p:cNvPr id="34" name="Shape 31"/>
          <p:cNvSpPr/>
          <p:nvPr/>
        </p:nvSpPr>
        <p:spPr>
          <a:xfrm>
            <a:off x="2560320" y="4823460"/>
            <a:ext cx="228600" cy="0"/>
          </a:xfrm>
          <a:prstGeom prst="line">
            <a:avLst/>
          </a:prstGeom>
          <a:noFill/>
          <a:ln w="19050">
            <a:solidFill>
              <a:srgbClr val="5B6778"/>
            </a:solidFill>
            <a:prstDash val="solid"/>
            <a:tailEnd type="triangle"/>
          </a:ln>
        </p:spPr>
      </p:sp>
      <p:sp>
        <p:nvSpPr>
          <p:cNvPr id="35" name="Shape 32"/>
          <p:cNvSpPr/>
          <p:nvPr/>
        </p:nvSpPr>
        <p:spPr>
          <a:xfrm>
            <a:off x="4800600" y="4823460"/>
            <a:ext cx="228600" cy="0"/>
          </a:xfrm>
          <a:prstGeom prst="line">
            <a:avLst/>
          </a:prstGeom>
          <a:noFill/>
          <a:ln w="19050">
            <a:solidFill>
              <a:srgbClr val="5B6778"/>
            </a:solidFill>
            <a:prstDash val="solid"/>
            <a:tailEnd type="triangle"/>
          </a:ln>
        </p:spPr>
      </p:sp>
      <p:sp>
        <p:nvSpPr>
          <p:cNvPr id="36" name="Shape 33"/>
          <p:cNvSpPr/>
          <p:nvPr/>
        </p:nvSpPr>
        <p:spPr>
          <a:xfrm>
            <a:off x="7040880" y="4823460"/>
            <a:ext cx="228600" cy="0"/>
          </a:xfrm>
          <a:prstGeom prst="line">
            <a:avLst/>
          </a:prstGeom>
          <a:noFill/>
          <a:ln w="19050">
            <a:solidFill>
              <a:srgbClr val="5B6778"/>
            </a:solidFill>
            <a:prstDash val="solid"/>
            <a:tailEnd type="triangle"/>
          </a:ln>
        </p:spPr>
      </p:sp>
      <p:sp>
        <p:nvSpPr>
          <p:cNvPr id="37" name="Shape 34"/>
          <p:cNvSpPr/>
          <p:nvPr/>
        </p:nvSpPr>
        <p:spPr>
          <a:xfrm>
            <a:off x="6035040" y="2331720"/>
            <a:ext cx="0" cy="594360"/>
          </a:xfrm>
          <a:prstGeom prst="line">
            <a:avLst/>
          </a:prstGeom>
          <a:noFill/>
          <a:ln w="19050">
            <a:solidFill>
              <a:srgbClr val="5B6778"/>
            </a:solidFill>
            <a:prstDash val="solid"/>
            <a:tailEnd type="triangle"/>
          </a:ln>
        </p:spPr>
      </p:sp>
      <p:sp>
        <p:nvSpPr>
          <p:cNvPr id="38" name="Shape 35"/>
          <p:cNvSpPr/>
          <p:nvPr/>
        </p:nvSpPr>
        <p:spPr>
          <a:xfrm>
            <a:off x="8275320" y="3794760"/>
            <a:ext cx="0" cy="594360"/>
          </a:xfrm>
          <a:prstGeom prst="line">
            <a:avLst/>
          </a:prstGeom>
          <a:noFill/>
          <a:ln w="19050">
            <a:solidFill>
              <a:srgbClr val="5B6778"/>
            </a:solidFill>
            <a:prstDash val="solid"/>
            <a:tailEnd type="triangle"/>
          </a:ln>
        </p:spPr>
      </p:sp>
      <p:sp>
        <p:nvSpPr>
          <p:cNvPr id="39" name="Legend"/>
          <p:cNvSpPr txBox="1"/>
          <p:nvPr/>
        </p:nvSpPr>
        <p:spPr>
          <a:xfrm>
            <a:off x="548640" y="5577840"/>
            <a:ext cx="7315200" cy="365760"/>
          </a:xfrm>
          <a:prstGeom prst="rect">
            <a:avLst/>
          </a:prstGeom>
          <a:noFill/>
          <a:ln/>
        </p:spPr>
        <p:txBody>
          <a:bodyPr wrap="square" lIns="0" tIns="0" rIns="0" bIns="0" rtlCol="0" anchor="ctr"/>
          <a:lstStyle/>
          <a:p>
            <a:pPr indent="0" marL="0">
              <a:buNone/>
            </a:pPr>
            <a:r>
              <a:rPr lang="en-US" sz="1400" b="1" dirty="0">
                <a:solidFill>
                  <a:srgbClr val="0B7A6E"/>
                </a:solidFill>
                <a:latin typeface="Calibri" pitchFamily="34" charset="0"/>
                <a:ea typeface="Calibri" pitchFamily="34" charset="-122"/>
                <a:cs typeface="Calibri" pitchFamily="34" charset="-120"/>
              </a:rPr>
              <a:t>teal</a:t>
            </a:r>
            <a:pPr indent="0" marL="0">
              <a:buNone/>
            </a:pPr>
            <a:r>
              <a:rPr lang="en-US" sz="1400" dirty="0">
                <a:solidFill>
                  <a:srgbClr val="5B6778"/>
                </a:solidFill>
                <a:latin typeface="Calibri" pitchFamily="34" charset="0"/>
                <a:ea typeface="Calibri" pitchFamily="34" charset="-122"/>
                <a:cs typeface="Calibri" pitchFamily="34" charset="-120"/>
              </a:rPr>
              <a:t> code   </a:t>
            </a:r>
            <a:pPr indent="0" marL="0">
              <a:buNone/>
            </a:pPr>
            <a:r>
              <a:rPr lang="en-US" sz="1400" b="1" dirty="0">
                <a:solidFill>
                  <a:srgbClr val="F5A524"/>
                </a:solidFill>
                <a:latin typeface="Calibri" pitchFamily="34" charset="0"/>
                <a:ea typeface="Calibri" pitchFamily="34" charset="-122"/>
                <a:cs typeface="Calibri" pitchFamily="34" charset="-120"/>
              </a:rPr>
              <a:t>amber</a:t>
            </a:r>
            <a:pPr indent="0" marL="0">
              <a:buNone/>
            </a:pPr>
            <a:r>
              <a:rPr lang="en-US" sz="1400" dirty="0">
                <a:solidFill>
                  <a:srgbClr val="5B6778"/>
                </a:solidFill>
                <a:latin typeface="Calibri" pitchFamily="34" charset="0"/>
                <a:ea typeface="Calibri" pitchFamily="34" charset="-122"/>
                <a:cs typeface="Calibri" pitchFamily="34" charset="-120"/>
              </a:rPr>
              <a:t> LLM   </a:t>
            </a:r>
            <a:pPr indent="0" marL="0">
              <a:buNone/>
            </a:pPr>
            <a:r>
              <a:rPr lang="en-US" sz="1400" b="1" dirty="0">
                <a:solidFill>
                  <a:srgbClr val="D9485F"/>
                </a:solidFill>
                <a:latin typeface="Calibri" pitchFamily="34" charset="0"/>
                <a:ea typeface="Calibri" pitchFamily="34" charset="-122"/>
                <a:cs typeface="Calibri" pitchFamily="34" charset="-120"/>
              </a:rPr>
              <a:t>red</a:t>
            </a:r>
            <a:pPr indent="0" marL="0">
              <a:buNone/>
            </a:pPr>
            <a:r>
              <a:rPr lang="en-US" sz="1400" dirty="0">
                <a:solidFill>
                  <a:srgbClr val="5B6778"/>
                </a:solidFill>
                <a:latin typeface="Calibri" pitchFamily="34" charset="0"/>
                <a:ea typeface="Calibri" pitchFamily="34" charset="-122"/>
                <a:cs typeface="Calibri" pitchFamily="34" charset="-120"/>
              </a:rPr>
              <a:t> classical CV</a:t>
            </a:r>
            <a:endParaRPr lang="en-US" sz="1400" dirty="0"/>
          </a:p>
        </p:txBody>
      </p:sp>
      <p:sp>
        <p:nvSpPr>
          <p:cNvPr id="40" name="Guarantees"/>
          <p:cNvSpPr/>
          <p:nvPr/>
        </p:nvSpPr>
        <p:spPr>
          <a:xfrm>
            <a:off x="9555480" y="1463040"/>
            <a:ext cx="2103120" cy="3794760"/>
          </a:xfrm>
          <a:prstGeom prst="roundRect">
            <a:avLst>
              <a:gd name="adj" fmla="val 5217"/>
            </a:avLst>
          </a:prstGeom>
          <a:solidFill>
            <a:srgbClr val="F1F5F9"/>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41" name="Guarantees title"/>
          <p:cNvSpPr txBox="1"/>
          <p:nvPr/>
        </p:nvSpPr>
        <p:spPr>
          <a:xfrm>
            <a:off x="9692640" y="1572768"/>
            <a:ext cx="1828800" cy="731520"/>
          </a:xfrm>
          <a:prstGeom prst="rect">
            <a:avLst/>
          </a:prstGeom>
          <a:noFill/>
          <a:ln/>
        </p:spPr>
        <p:txBody>
          <a:bodyPr wrap="square" lIns="0" tIns="0" rIns="0" bIns="0" rtlCol="0" anchor="t"/>
          <a:lstStyle/>
          <a:p>
            <a:pPr indent="0" marL="0">
              <a:buNone/>
            </a:pPr>
            <a:r>
              <a:rPr lang="en-US" sz="1500" b="1" dirty="0">
                <a:solidFill>
                  <a:srgbClr val="0F1B2D"/>
                </a:solidFill>
                <a:latin typeface="Cambria" pitchFamily="34" charset="0"/>
                <a:ea typeface="Cambria" pitchFamily="34" charset="-122"/>
                <a:cs typeface="Cambria" pitchFamily="34" charset="-120"/>
              </a:rPr>
              <a:t>Why it cannot make things up</a:t>
            </a:r>
            <a:endParaRPr lang="en-US" sz="1500" dirty="0"/>
          </a:p>
        </p:txBody>
      </p:sp>
      <p:sp>
        <p:nvSpPr>
          <p:cNvPr id="42" name="Guarantees list"/>
          <p:cNvSpPr txBox="1"/>
          <p:nvPr/>
        </p:nvSpPr>
        <p:spPr>
          <a:xfrm>
            <a:off x="9692640" y="2377440"/>
            <a:ext cx="1874520" cy="27432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3202F"/>
                </a:solidFill>
                <a:latin typeface="Calibri" pitchFamily="34" charset="0"/>
                <a:ea typeface="Calibri" pitchFamily="34" charset="-122"/>
                <a:cs typeface="Calibri" pitchFamily="34" charset="-120"/>
              </a:rPr>
              <a:t>Closed-world prompt</a:t>
            </a:r>
            <a:endParaRPr lang="en-US" sz="1400" dirty="0"/>
          </a:p>
          <a:p>
            <a:pPr marL="342900" indent="-342900">
              <a:spcAft>
                <a:spcPts val="800"/>
              </a:spcAft>
              <a:buSzPct val="100000"/>
              <a:buChar char="•"/>
            </a:pPr>
            <a:r>
              <a:rPr lang="en-US" sz="1400" dirty="0">
                <a:solidFill>
                  <a:srgbClr val="13202F"/>
                </a:solidFill>
                <a:latin typeface="Calibri" pitchFamily="34" charset="0"/>
                <a:ea typeface="Calibri" pitchFamily="34" charset="-122"/>
                <a:cs typeface="Calibri" pitchFamily="34" charset="-120"/>
              </a:rPr>
              <a:t>Schema enums</a:t>
            </a:r>
            <a:endParaRPr lang="en-US" sz="1400" dirty="0"/>
          </a:p>
          <a:p>
            <a:pPr marL="342900" indent="-342900">
              <a:spcAft>
                <a:spcPts val="800"/>
              </a:spcAft>
              <a:buSzPct val="100000"/>
              <a:buChar char="•"/>
            </a:pPr>
            <a:r>
              <a:rPr lang="en-US" sz="1400" dirty="0">
                <a:solidFill>
                  <a:srgbClr val="13202F"/>
                </a:solidFill>
                <a:latin typeface="Calibri" pitchFamily="34" charset="0"/>
                <a:ea typeface="Calibri" pitchFamily="34" charset="-122"/>
                <a:cs typeface="Calibri" pitchFamily="34" charset="-120"/>
              </a:rPr>
              <a:t>Quotes checked by code</a:t>
            </a:r>
            <a:endParaRPr lang="en-US" sz="1400" dirty="0"/>
          </a:p>
          <a:p>
            <a:pPr marL="342900" indent="-342900">
              <a:spcAft>
                <a:spcPts val="800"/>
              </a:spcAft>
              <a:buSzPct val="100000"/>
              <a:buChar char="•"/>
            </a:pPr>
            <a:r>
              <a:rPr lang="en-US" sz="1400" dirty="0">
                <a:solidFill>
                  <a:srgbClr val="13202F"/>
                </a:solidFill>
                <a:latin typeface="Calibri" pitchFamily="34" charset="0"/>
                <a:ea typeface="Calibri" pitchFamily="34" charset="-122"/>
                <a:cs typeface="Calibri" pitchFamily="34" charset="-120"/>
              </a:rPr>
              <a:t>Math in code</a:t>
            </a:r>
            <a:endParaRPr lang="en-US" sz="1400" dirty="0"/>
          </a:p>
          <a:p>
            <a:pPr marL="342900" indent="-342900">
              <a:spcAft>
                <a:spcPts val="800"/>
              </a:spcAft>
              <a:buSzPct val="100000"/>
              <a:buChar char="•"/>
            </a:pPr>
            <a:r>
              <a:rPr lang="en-US" sz="1400" dirty="0">
                <a:solidFill>
                  <a:srgbClr val="13202F"/>
                </a:solidFill>
                <a:latin typeface="Calibri" pitchFamily="34" charset="0"/>
                <a:ea typeface="Calibri" pitchFamily="34" charset="-122"/>
                <a:cs typeface="Calibri" pitchFamily="34" charset="-120"/>
              </a:rPr>
              <a:t>Image gate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0F1B2D"/>
                </a:solidFill>
                <a:latin typeface="Cambria" pitchFamily="34" charset="0"/>
                <a:ea typeface="Cambria" pitchFamily="34" charset="-122"/>
                <a:cs typeface="Cambria" pitchFamily="34" charset="-120"/>
              </a:rPr>
              <a:t>Tested without a GPU</a:t>
            </a:r>
            <a:endParaRPr lang="en-US" sz="3400" dirty="0"/>
          </a:p>
        </p:txBody>
      </p:sp>
      <p:sp>
        <p:nvSpPr>
          <p:cNvPr id="4" name="Stat 1"/>
          <p:cNvSpPr/>
          <p:nvPr/>
        </p:nvSpPr>
        <p:spPr>
          <a:xfrm>
            <a:off x="548640" y="1371600"/>
            <a:ext cx="1783080" cy="1097280"/>
          </a:xfrm>
          <a:prstGeom prst="roundRect">
            <a:avLst>
              <a:gd name="adj" fmla="val 10000"/>
            </a:avLst>
          </a:prstGeom>
          <a:solidFill>
            <a:srgbClr val="E3F5F2"/>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5" name="Stat 1 value"/>
          <p:cNvSpPr txBox="1"/>
          <p:nvPr/>
        </p:nvSpPr>
        <p:spPr>
          <a:xfrm>
            <a:off x="548640" y="1417320"/>
            <a:ext cx="1783080" cy="640080"/>
          </a:xfrm>
          <a:prstGeom prst="rect">
            <a:avLst/>
          </a:prstGeom>
          <a:noFill/>
          <a:ln/>
        </p:spPr>
        <p:txBody>
          <a:bodyPr wrap="square" lIns="0" tIns="0" rIns="0" bIns="0" rtlCol="0" anchor="ctr"/>
          <a:lstStyle/>
          <a:p>
            <a:pPr algn="ctr" indent="0" marL="0">
              <a:buNone/>
            </a:pPr>
            <a:r>
              <a:rPr lang="en-US" sz="3200" b="1" dirty="0">
                <a:solidFill>
                  <a:srgbClr val="0B7A6E"/>
                </a:solidFill>
                <a:latin typeface="Cambria" pitchFamily="34" charset="0"/>
                <a:ea typeface="Cambria" pitchFamily="34" charset="-122"/>
                <a:cs typeface="Cambria" pitchFamily="34" charset="-120"/>
              </a:rPr>
              <a:t>115</a:t>
            </a:r>
            <a:endParaRPr lang="en-US" sz="3200" dirty="0"/>
          </a:p>
        </p:txBody>
      </p:sp>
      <p:sp>
        <p:nvSpPr>
          <p:cNvPr id="6" name="Stat 1 label"/>
          <p:cNvSpPr txBox="1"/>
          <p:nvPr/>
        </p:nvSpPr>
        <p:spPr>
          <a:xfrm>
            <a:off x="548640" y="2057400"/>
            <a:ext cx="1783080" cy="320040"/>
          </a:xfrm>
          <a:prstGeom prst="rect">
            <a:avLst/>
          </a:prstGeom>
          <a:noFill/>
          <a:ln/>
        </p:spPr>
        <p:txBody>
          <a:bodyPr wrap="square" lIns="0" tIns="0" rIns="0" bIns="0" rtlCol="0" anchor="ctr"/>
          <a:lstStyle/>
          <a:p>
            <a:pPr algn="ctr" indent="0" marL="0">
              <a:buNone/>
            </a:pPr>
            <a:r>
              <a:rPr lang="en-US" sz="1400" dirty="0">
                <a:solidFill>
                  <a:srgbClr val="5B6778"/>
                </a:solidFill>
                <a:latin typeface="Calibri" pitchFamily="34" charset="0"/>
                <a:ea typeface="Calibri" pitchFamily="34" charset="-122"/>
                <a:cs typeface="Calibri" pitchFamily="34" charset="-120"/>
              </a:rPr>
              <a:t>backend tests</a:t>
            </a:r>
            <a:endParaRPr lang="en-US" sz="1400" dirty="0"/>
          </a:p>
        </p:txBody>
      </p:sp>
      <p:sp>
        <p:nvSpPr>
          <p:cNvPr id="7" name="Stat 2"/>
          <p:cNvSpPr/>
          <p:nvPr/>
        </p:nvSpPr>
        <p:spPr>
          <a:xfrm>
            <a:off x="2468880" y="1371600"/>
            <a:ext cx="1783080" cy="1097280"/>
          </a:xfrm>
          <a:prstGeom prst="roundRect">
            <a:avLst>
              <a:gd name="adj" fmla="val 10000"/>
            </a:avLst>
          </a:prstGeom>
          <a:solidFill>
            <a:srgbClr val="E8ECFD"/>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8" name="Stat 2 value"/>
          <p:cNvSpPr txBox="1"/>
          <p:nvPr/>
        </p:nvSpPr>
        <p:spPr>
          <a:xfrm>
            <a:off x="2468880" y="1417320"/>
            <a:ext cx="1783080" cy="640080"/>
          </a:xfrm>
          <a:prstGeom prst="rect">
            <a:avLst/>
          </a:prstGeom>
          <a:noFill/>
          <a:ln/>
        </p:spPr>
        <p:txBody>
          <a:bodyPr wrap="square" lIns="0" tIns="0" rIns="0" bIns="0" rtlCol="0" anchor="ctr"/>
          <a:lstStyle/>
          <a:p>
            <a:pPr algn="ctr" indent="0" marL="0">
              <a:buNone/>
            </a:pPr>
            <a:r>
              <a:rPr lang="en-US" sz="3200" b="1" dirty="0">
                <a:solidFill>
                  <a:srgbClr val="3B5BDB"/>
                </a:solidFill>
                <a:latin typeface="Cambria" pitchFamily="34" charset="0"/>
                <a:ea typeface="Cambria" pitchFamily="34" charset="-122"/>
                <a:cs typeface="Cambria" pitchFamily="34" charset="-120"/>
              </a:rPr>
              <a:t>53</a:t>
            </a:r>
            <a:endParaRPr lang="en-US" sz="3200" dirty="0"/>
          </a:p>
        </p:txBody>
      </p:sp>
      <p:sp>
        <p:nvSpPr>
          <p:cNvPr id="9" name="Stat 2 label"/>
          <p:cNvSpPr txBox="1"/>
          <p:nvPr/>
        </p:nvSpPr>
        <p:spPr>
          <a:xfrm>
            <a:off x="2468880" y="2057400"/>
            <a:ext cx="1783080" cy="320040"/>
          </a:xfrm>
          <a:prstGeom prst="rect">
            <a:avLst/>
          </a:prstGeom>
          <a:noFill/>
          <a:ln/>
        </p:spPr>
        <p:txBody>
          <a:bodyPr wrap="square" lIns="0" tIns="0" rIns="0" bIns="0" rtlCol="0" anchor="ctr"/>
          <a:lstStyle/>
          <a:p>
            <a:pPr algn="ctr" indent="0" marL="0">
              <a:buNone/>
            </a:pPr>
            <a:r>
              <a:rPr lang="en-US" sz="1400" dirty="0">
                <a:solidFill>
                  <a:srgbClr val="5B6778"/>
                </a:solidFill>
                <a:latin typeface="Calibri" pitchFamily="34" charset="0"/>
                <a:ea typeface="Calibri" pitchFamily="34" charset="-122"/>
                <a:cs typeface="Calibri" pitchFamily="34" charset="-120"/>
              </a:rPr>
              <a:t>frontend tests</a:t>
            </a:r>
            <a:endParaRPr lang="en-US" sz="1400" dirty="0"/>
          </a:p>
        </p:txBody>
      </p:sp>
      <p:sp>
        <p:nvSpPr>
          <p:cNvPr id="10" name="Stat 3"/>
          <p:cNvSpPr/>
          <p:nvPr/>
        </p:nvSpPr>
        <p:spPr>
          <a:xfrm>
            <a:off x="4389120" y="1371600"/>
            <a:ext cx="1783080" cy="1097280"/>
          </a:xfrm>
          <a:prstGeom prst="roundRect">
            <a:avLst>
              <a:gd name="adj" fmla="val 10000"/>
            </a:avLst>
          </a:prstGeom>
          <a:solidFill>
            <a:srgbClr val="FEF3DC"/>
          </a:solidFill>
          <a:ln w="9525">
            <a:solidFill>
              <a:srgbClr val="D5DBE3"/>
            </a:solidFill>
            <a:prstDash val="solid"/>
          </a:ln>
          <a:effectLst>
            <a:outerShdw sx="100000" sy="100000" kx="0" ky="0" algn="bl" rotWithShape="0" blurRad="101600" dist="25400" dir="5400000">
              <a:srgbClr val="000000">
                <a:alpha val="12000"/>
              </a:srgbClr>
            </a:outerShdw>
          </a:effectLst>
        </p:spPr>
      </p:sp>
      <p:sp>
        <p:nvSpPr>
          <p:cNvPr id="11" name="Stat 3 value"/>
          <p:cNvSpPr txBox="1"/>
          <p:nvPr/>
        </p:nvSpPr>
        <p:spPr>
          <a:xfrm>
            <a:off x="4389120" y="1417320"/>
            <a:ext cx="1783080" cy="640080"/>
          </a:xfrm>
          <a:prstGeom prst="rect">
            <a:avLst/>
          </a:prstGeom>
          <a:noFill/>
          <a:ln/>
        </p:spPr>
        <p:txBody>
          <a:bodyPr wrap="square" lIns="0" tIns="0" rIns="0" bIns="0" rtlCol="0" anchor="ctr"/>
          <a:lstStyle/>
          <a:p>
            <a:pPr algn="ctr" indent="0" marL="0">
              <a:buNone/>
            </a:pPr>
            <a:r>
              <a:rPr lang="en-US" sz="3200" b="1" dirty="0">
                <a:solidFill>
                  <a:srgbClr val="B54708"/>
                </a:solidFill>
                <a:latin typeface="Cambria" pitchFamily="34" charset="0"/>
                <a:ea typeface="Cambria" pitchFamily="34" charset="-122"/>
                <a:cs typeface="Cambria" pitchFamily="34" charset="-120"/>
              </a:rPr>
              <a:t>0</a:t>
            </a:r>
            <a:endParaRPr lang="en-US" sz="3200" dirty="0"/>
          </a:p>
        </p:txBody>
      </p:sp>
      <p:sp>
        <p:nvSpPr>
          <p:cNvPr id="12" name="Stat 3 label"/>
          <p:cNvSpPr txBox="1"/>
          <p:nvPr/>
        </p:nvSpPr>
        <p:spPr>
          <a:xfrm>
            <a:off x="4389120" y="2057400"/>
            <a:ext cx="1783080" cy="320040"/>
          </a:xfrm>
          <a:prstGeom prst="rect">
            <a:avLst/>
          </a:prstGeom>
          <a:noFill/>
          <a:ln/>
        </p:spPr>
        <p:txBody>
          <a:bodyPr wrap="square" lIns="0" tIns="0" rIns="0" bIns="0" rtlCol="0" anchor="ctr"/>
          <a:lstStyle/>
          <a:p>
            <a:pPr algn="ctr" indent="0" marL="0">
              <a:buNone/>
            </a:pPr>
            <a:r>
              <a:rPr lang="en-US" sz="1400" dirty="0">
                <a:solidFill>
                  <a:srgbClr val="5B6778"/>
                </a:solidFill>
                <a:latin typeface="Calibri" pitchFamily="34" charset="0"/>
                <a:ea typeface="Calibri" pitchFamily="34" charset="-122"/>
                <a:cs typeface="Calibri" pitchFamily="34" charset="-120"/>
              </a:rPr>
              <a:t>lint errors</a:t>
            </a:r>
            <a:endParaRPr lang="en-US" sz="1400" dirty="0"/>
          </a:p>
        </p:txBody>
      </p:sp>
      <p:graphicFrame>
        <p:nvGraphicFramePr>
          <p:cNvPr id="13" name="Coverage chart" descr=""/>
          <p:cNvGraphicFramePr/>
          <p:nvPr/>
        </p:nvGraphicFramePr>
        <p:xfrm>
          <a:off x="548640" y="2697480"/>
          <a:ext cx="5577840" cy="3611880"/>
        </p:xfrm>
        <a:graphic xmlns:a="http://schemas.openxmlformats.org/drawingml/2006/main">
          <a:graphicData uri="http://schemas.openxmlformats.org/drawingml/2006/chart">
            <c:chart xmlns:c="http://schemas.openxmlformats.org/drawingml/2006/chart" r:id="rId1"/>
          </a:graphicData>
        </a:graphic>
      </p:graphicFrame>
      <p:pic>
        <p:nvPicPr>
          <p:cNvPr id="14" name="Result screenshot" descr="Result page of the KPI evaluation web interface with the KPI gauge and per-block table">    </p:cNvPr>
          <p:cNvPicPr>
            <a:picLocks noChangeAspect="1"/>
          </p:cNvPicPr>
          <p:nvPr/>
        </p:nvPicPr>
        <p:blipFill>
          <a:blip r:embed="rId2"/>
          <a:srcRect l="0" r="0" t="0" b="0"/>
          <a:stretch/>
        </p:blipFill>
        <p:spPr>
          <a:xfrm>
            <a:off x="6400800" y="1371600"/>
            <a:ext cx="5212080" cy="3909060"/>
          </a:xfrm>
          <a:prstGeom prst="rect">
            <a:avLst/>
          </a:prstGeom>
        </p:spPr>
      </p:pic>
      <p:sp>
        <p:nvSpPr>
          <p:cNvPr id="15" name="Screenshot caption"/>
          <p:cNvSpPr txBox="1"/>
          <p:nvPr/>
        </p:nvSpPr>
        <p:spPr>
          <a:xfrm>
            <a:off x="6400800" y="5440680"/>
            <a:ext cx="5212080" cy="548640"/>
          </a:xfrm>
          <a:prstGeom prst="rect">
            <a:avLst/>
          </a:prstGeom>
          <a:noFill/>
          <a:ln/>
        </p:spPr>
        <p:txBody>
          <a:bodyPr wrap="square" lIns="0" tIns="0" rIns="0" bIns="0" rtlCol="0" anchor="t"/>
          <a:lstStyle/>
          <a:p>
            <a:pPr indent="0" marL="0">
              <a:buNone/>
            </a:pPr>
            <a:r>
              <a:rPr lang="en-US" sz="1400" dirty="0">
                <a:solidFill>
                  <a:srgbClr val="5B6778"/>
                </a:solidFill>
                <a:latin typeface="Calibri" pitchFamily="34" charset="0"/>
                <a:ea typeface="Calibri" pitchFamily="34" charset="-122"/>
                <a:cs typeface="Calibri" pitchFamily="34" charset="-120"/>
              </a:rPr>
              <a:t>Result page: 87.5 % for the sample report, evidence per condition</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7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Conclusion and challenges</a:t>
            </a:r>
            <a:endParaRPr lang="en-US" sz="3400" dirty="0"/>
          </a:p>
        </p:txBody>
      </p:sp>
      <p:sp>
        <p:nvSpPr>
          <p:cNvPr id="4" name="Panel 1"/>
          <p:cNvSpPr/>
          <p:nvPr/>
        </p:nvSpPr>
        <p:spPr>
          <a:xfrm>
            <a:off x="548640" y="1463040"/>
            <a:ext cx="3749040" cy="4572000"/>
          </a:xfrm>
          <a:prstGeom prst="roundRect">
            <a:avLst>
              <a:gd name="adj" fmla="val 2927"/>
            </a:avLst>
          </a:prstGeom>
          <a:solidFill>
            <a:srgbClr val="1B2C44"/>
          </a:solidFill>
          <a:ln w="9525">
            <a:solidFill>
              <a:srgbClr val="2C4160"/>
            </a:solidFill>
            <a:prstDash val="solid"/>
          </a:ln>
        </p:spPr>
      </p:sp>
      <p:sp>
        <p:nvSpPr>
          <p:cNvPr id="5" name="Panel 1 title"/>
          <p:cNvSpPr txBox="1"/>
          <p:nvPr/>
        </p:nvSpPr>
        <p:spPr>
          <a:xfrm>
            <a:off x="777240" y="1600200"/>
            <a:ext cx="3291840" cy="457200"/>
          </a:xfrm>
          <a:prstGeom prst="rect">
            <a:avLst/>
          </a:prstGeom>
          <a:noFill/>
          <a:ln/>
        </p:spPr>
        <p:txBody>
          <a:bodyPr wrap="square" lIns="0" tIns="0" rIns="0" bIns="0" rtlCol="0" anchor="ctr"/>
          <a:lstStyle/>
          <a:p>
            <a:pPr indent="0" marL="0">
              <a:buNone/>
            </a:pPr>
            <a:r>
              <a:rPr lang="en-US" sz="2000" b="1" dirty="0">
                <a:solidFill>
                  <a:srgbClr val="5EEAD4"/>
                </a:solidFill>
                <a:latin typeface="Cambria" pitchFamily="34" charset="0"/>
                <a:ea typeface="Cambria" pitchFamily="34" charset="-122"/>
                <a:cs typeface="Cambria" pitchFamily="34" charset="-120"/>
              </a:rPr>
              <a:t>Done</a:t>
            </a:r>
            <a:endParaRPr lang="en-US" sz="2000" dirty="0"/>
          </a:p>
        </p:txBody>
      </p:sp>
      <p:sp>
        <p:nvSpPr>
          <p:cNvPr id="6" name="Panel 1 items"/>
          <p:cNvSpPr txBox="1"/>
          <p:nvPr/>
        </p:nvSpPr>
        <p:spPr>
          <a:xfrm>
            <a:off x="777240" y="2194560"/>
            <a:ext cx="3337560" cy="36576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Process, tools, Git and CI/CD studied and applied</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Strict, versioned prompts + code verification</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React + MUI interface with themes</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168 automated tests, Docker, release workflow</a:t>
            </a:r>
            <a:endParaRPr lang="en-US" sz="1800" dirty="0"/>
          </a:p>
        </p:txBody>
      </p:sp>
      <p:sp>
        <p:nvSpPr>
          <p:cNvPr id="7" name="Panel 2"/>
          <p:cNvSpPr/>
          <p:nvPr/>
        </p:nvSpPr>
        <p:spPr>
          <a:xfrm>
            <a:off x="4480560" y="1463040"/>
            <a:ext cx="3749040" cy="4572000"/>
          </a:xfrm>
          <a:prstGeom prst="roundRect">
            <a:avLst>
              <a:gd name="adj" fmla="val 2927"/>
            </a:avLst>
          </a:prstGeom>
          <a:solidFill>
            <a:srgbClr val="1B2C44"/>
          </a:solidFill>
          <a:ln w="9525">
            <a:solidFill>
              <a:srgbClr val="2C4160"/>
            </a:solidFill>
            <a:prstDash val="solid"/>
          </a:ln>
        </p:spPr>
      </p:sp>
      <p:sp>
        <p:nvSpPr>
          <p:cNvPr id="8" name="Panel 2 title"/>
          <p:cNvSpPr txBox="1"/>
          <p:nvPr/>
        </p:nvSpPr>
        <p:spPr>
          <a:xfrm>
            <a:off x="4709160" y="1600200"/>
            <a:ext cx="3291840" cy="457200"/>
          </a:xfrm>
          <a:prstGeom prst="rect">
            <a:avLst/>
          </a:prstGeom>
          <a:noFill/>
          <a:ln/>
        </p:spPr>
        <p:txBody>
          <a:bodyPr wrap="square" lIns="0" tIns="0" rIns="0" bIns="0" rtlCol="0" anchor="ctr"/>
          <a:lstStyle/>
          <a:p>
            <a:pPr indent="0" marL="0">
              <a:buNone/>
            </a:pPr>
            <a:r>
              <a:rPr lang="en-US" sz="2000" b="1" dirty="0">
                <a:solidFill>
                  <a:srgbClr val="5EEAD4"/>
                </a:solidFill>
                <a:latin typeface="Cambria" pitchFamily="34" charset="0"/>
                <a:ea typeface="Cambria" pitchFamily="34" charset="-122"/>
                <a:cs typeface="Cambria" pitchFamily="34" charset="-120"/>
              </a:rPr>
              <a:t>Challenges</a:t>
            </a:r>
            <a:endParaRPr lang="en-US" sz="2000" dirty="0"/>
          </a:p>
        </p:txBody>
      </p:sp>
      <p:sp>
        <p:nvSpPr>
          <p:cNvPr id="9" name="Panel 2 items"/>
          <p:cNvSpPr txBox="1"/>
          <p:nvPr/>
        </p:nvSpPr>
        <p:spPr>
          <a:xfrm>
            <a:off x="4709160" y="2194560"/>
            <a:ext cx="3337560" cy="36576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LLM hallucinations: defence in depth</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Testing without a GPU: replaceable client</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Tables across pages: cell-level parsing</a:t>
            </a:r>
            <a:endParaRPr lang="en-US" sz="1800" dirty="0"/>
          </a:p>
          <a:p>
            <a:pPr marL="342900" indent="-342900">
              <a:spcAft>
                <a:spcPts val="1200"/>
              </a:spcAft>
              <a:buSzPct val="100000"/>
              <a:buChar char="•"/>
            </a:pPr>
            <a:r>
              <a:rPr lang="en-US" sz="1800" dirty="0">
                <a:solidFill>
                  <a:srgbClr val="FFFFFF"/>
                </a:solidFill>
                <a:latin typeface="Calibri" pitchFamily="34" charset="0"/>
                <a:ea typeface="Calibri" pitchFamily="34" charset="-122"/>
                <a:cs typeface="Calibri" pitchFamily="34" charset="-120"/>
              </a:rPr>
              <a:t>Slow local inference: response cache</a:t>
            </a:r>
            <a:endParaRPr lang="en-US" sz="1800" dirty="0"/>
          </a:p>
        </p:txBody>
      </p:sp>
      <p:sp>
        <p:nvSpPr>
          <p:cNvPr id="10" name="Links panel"/>
          <p:cNvSpPr/>
          <p:nvPr/>
        </p:nvSpPr>
        <p:spPr>
          <a:xfrm>
            <a:off x="8412480" y="1463040"/>
            <a:ext cx="3200400" cy="4572000"/>
          </a:xfrm>
          <a:prstGeom prst="roundRect">
            <a:avLst>
              <a:gd name="adj" fmla="val 3429"/>
            </a:avLst>
          </a:prstGeom>
          <a:solidFill>
            <a:srgbClr val="0B7A6E"/>
          </a:solidFill>
          <a:ln w="6350">
            <a:solidFill>
              <a:srgbClr val="0B7A6E"/>
            </a:solidFill>
            <a:prstDash val="solid"/>
          </a:ln>
        </p:spPr>
      </p:sp>
      <p:sp>
        <p:nvSpPr>
          <p:cNvPr id="11" name="Links title"/>
          <p:cNvSpPr txBox="1"/>
          <p:nvPr/>
        </p:nvSpPr>
        <p:spPr>
          <a:xfrm>
            <a:off x="8641080" y="1600200"/>
            <a:ext cx="2743200" cy="45720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Links</a:t>
            </a:r>
            <a:endParaRPr lang="en-US" sz="2000" dirty="0"/>
          </a:p>
        </p:txBody>
      </p:sp>
      <p:sp>
        <p:nvSpPr>
          <p:cNvPr id="12" name="Links list"/>
          <p:cNvSpPr txBox="1"/>
          <p:nvPr/>
        </p:nvSpPr>
        <p:spPr>
          <a:xfrm>
            <a:off x="8641080" y="2194560"/>
            <a:ext cx="2834640" cy="2926080"/>
          </a:xfrm>
          <a:prstGeom prst="rect">
            <a:avLst/>
          </a:prstGeom>
          <a:noFill/>
          <a:ln/>
        </p:spPr>
        <p:txBody>
          <a:bodyPr wrap="square" lIns="0" tIns="0" rIns="0" bIns="0" rtlCol="0" anchor="t"/>
          <a:lstStyle/>
          <a:p>
            <a:pPr indent="0" marL="0">
              <a:spcAft>
                <a:spcPts val="1200"/>
              </a:spcAft>
              <a:buNone/>
            </a:pPr>
            <a:r>
              <a:rPr lang="en-US" sz="1500" u="sng" dirty="0">
                <a:solidFill>
                  <a:srgbClr val="FFFFFF"/>
                </a:solidFill>
                <a:latin typeface="Calibri" pitchFamily="34" charset="0"/>
                <a:ea typeface="Calibri" pitchFamily="34" charset="-122"/>
                <a:cs typeface="Calibri" pitchFamily="34" charset="-120"/>
                <a:hlinkClick r:id="rId1" invalidUrl="" action="" tgtFrame="" tooltip="https://github.com/OrazovTairlan/asdp_dissertation" history="1" highlightClick="0" endSnd="0">
                  <a:extLst>
                    <a:ext uri="{A12FA001-AC4F-418D-AE19-62706E023703}">
                      <ahyp:hlinkClr xmlns:ahyp="http://schemas.microsoft.com/office/drawing/2018/hyperlinkcolor" val="tx"/>
                    </a:ext>
                  </a:extLst>
                </a:hlinkClick>
              </a:rPr>
              <a:t>Repository</a:t>
            </a:r>
            <a:endParaRPr lang="en-US" sz="1500" dirty="0"/>
          </a:p>
          <a:p>
            <a:pPr indent="0" marL="0">
              <a:spcAft>
                <a:spcPts val="1200"/>
              </a:spcAft>
              <a:buNone/>
            </a:pPr>
            <a:r>
              <a:rPr lang="en-US" sz="1500" u="sng" dirty="0">
                <a:solidFill>
                  <a:srgbClr val="FFFFFF"/>
                </a:solidFill>
                <a:latin typeface="Calibri" pitchFamily="34" charset="0"/>
                <a:ea typeface="Calibri" pitchFamily="34" charset="-122"/>
                <a:cs typeface="Calibri" pitchFamily="34" charset="-120"/>
                <a:hlinkClick r:id="rId2" invalidUrl="" action="" tgtFrame="" tooltip="https://github.com/OrazovTairlan/asdp_dissertation/blob/main/.github/workflows/ci.yml" history="1" highlightClick="0" endSnd="0">
                  <a:extLst>
                    <a:ext uri="{A12FA001-AC4F-418D-AE19-62706E023703}">
                      <ahyp:hlinkClr xmlns:ahyp="http://schemas.microsoft.com/office/drawing/2018/hyperlinkcolor" val="tx"/>
                    </a:ext>
                  </a:extLst>
                </a:hlinkClick>
              </a:rPr>
              <a:t>ci.yml</a:t>
            </a:r>
            <a:endParaRPr lang="en-US" sz="1500" dirty="0"/>
          </a:p>
          <a:p>
            <a:pPr indent="0" marL="0">
              <a:spcAft>
                <a:spcPts val="1200"/>
              </a:spcAft>
              <a:buNone/>
            </a:pPr>
            <a:r>
              <a:rPr lang="en-US" sz="1500" u="sng" dirty="0">
                <a:solidFill>
                  <a:srgbClr val="FFFFFF"/>
                </a:solidFill>
                <a:latin typeface="Calibri" pitchFamily="34" charset="0"/>
                <a:ea typeface="Calibri" pitchFamily="34" charset="-122"/>
                <a:cs typeface="Calibri" pitchFamily="34" charset="-120"/>
                <a:hlinkClick r:id="rId3" invalidUrl="" action="" tgtFrame="" tooltip="https://github.com/OrazovTairlan/asdp_dissertation/blob/main/.github/workflows/release.yml" history="1" highlightClick="0" endSnd="0">
                  <a:extLst>
                    <a:ext uri="{A12FA001-AC4F-418D-AE19-62706E023703}">
                      <ahyp:hlinkClr xmlns:ahyp="http://schemas.microsoft.com/office/drawing/2018/hyperlinkcolor" val="tx"/>
                    </a:ext>
                  </a:extLst>
                </a:hlinkClick>
              </a:rPr>
              <a:t>release.yml</a:t>
            </a:r>
            <a:endParaRPr lang="en-US" sz="1500" dirty="0"/>
          </a:p>
          <a:p>
            <a:pPr indent="0" marL="0">
              <a:spcAft>
                <a:spcPts val="1200"/>
              </a:spcAft>
              <a:buNone/>
            </a:pPr>
            <a:r>
              <a:rPr lang="en-US" sz="1500" u="sng" dirty="0">
                <a:solidFill>
                  <a:srgbClr val="FFFFFF"/>
                </a:solidFill>
                <a:latin typeface="Calibri" pitchFamily="34" charset="0"/>
                <a:ea typeface="Calibri" pitchFamily="34" charset="-122"/>
                <a:cs typeface="Calibri" pitchFamily="34" charset="-120"/>
                <a:hlinkClick r:id="rId4" invalidUrl="" action="" tgtFrame="" tooltip="https://github.com/OrazovTairlan/asdp_dissertation/blob/main/.github/workflows/codeql.yml" history="1" highlightClick="0" endSnd="0">
                  <a:extLst>
                    <a:ext uri="{A12FA001-AC4F-418D-AE19-62706E023703}">
                      <ahyp:hlinkClr xmlns:ahyp="http://schemas.microsoft.com/office/drawing/2018/hyperlinkcolor" val="tx"/>
                    </a:ext>
                  </a:extLst>
                </a:hlinkClick>
              </a:rPr>
              <a:t>codeql.yml</a:t>
            </a:r>
            <a:endParaRPr lang="en-US" sz="1500" dirty="0"/>
          </a:p>
          <a:p>
            <a:pPr indent="0" marL="0">
              <a:spcAft>
                <a:spcPts val="1200"/>
              </a:spcAft>
              <a:buNone/>
            </a:pPr>
            <a:r>
              <a:rPr lang="en-US" sz="1500" u="sng" dirty="0">
                <a:solidFill>
                  <a:srgbClr val="FFFFFF"/>
                </a:solidFill>
                <a:latin typeface="Calibri" pitchFamily="34" charset="0"/>
                <a:ea typeface="Calibri" pitchFamily="34" charset="-122"/>
                <a:cs typeface="Calibri" pitchFamily="34" charset="-120"/>
                <a:hlinkClick r:id="rId5" invalidUrl="" action="" tgtFrame="" tooltip="https://github.com/OrazovTairlan/asdp_dissertation/blob/main/docs/PROMPTS.md" history="1" highlightClick="0" endSnd="0">
                  <a:extLst>
                    <a:ext uri="{A12FA001-AC4F-418D-AE19-62706E023703}">
                      <ahyp:hlinkClr xmlns:ahyp="http://schemas.microsoft.com/office/drawing/2018/hyperlinkcolor" val="tx"/>
                    </a:ext>
                  </a:extLst>
                </a:hlinkClick>
              </a:rPr>
              <a:t>Prompt design</a:t>
            </a:r>
            <a:endParaRPr lang="en-US" sz="1500" dirty="0"/>
          </a:p>
          <a:p>
            <a:pPr indent="0" marL="0">
              <a:spcAft>
                <a:spcPts val="1200"/>
              </a:spcAft>
              <a:buNone/>
            </a:pPr>
            <a:r>
              <a:rPr lang="en-US" sz="1500" u="sng" dirty="0">
                <a:solidFill>
                  <a:srgbClr val="FFFFFF"/>
                </a:solidFill>
                <a:latin typeface="Calibri" pitchFamily="34" charset="0"/>
                <a:ea typeface="Calibri" pitchFamily="34" charset="-122"/>
                <a:cs typeface="Calibri" pitchFamily="34" charset="-120"/>
                <a:hlinkClick r:id="rId6" invalidUrl="" action="" tgtFrame="" tooltip="https://github.com/OrazovTairlan/asdp_dissertation/blob/main/docs/ARCHITECTURE.md" history="1" highlightClick="0" endSnd="0">
                  <a:extLst>
                    <a:ext uri="{A12FA001-AC4F-418D-AE19-62706E023703}">
                      <ahyp:hlinkClr xmlns:ahyp="http://schemas.microsoft.com/office/drawing/2018/hyperlinkcolor" val="tx"/>
                    </a:ext>
                  </a:extLst>
                </a:hlinkClick>
              </a:rPr>
              <a:t>Architecture</a:t>
            </a:r>
            <a:endParaRPr lang="en-US" sz="1500" dirty="0"/>
          </a:p>
        </p:txBody>
      </p:sp>
      <p:sp>
        <p:nvSpPr>
          <p:cNvPr id="13" name="Next"/>
          <p:cNvSpPr txBox="1"/>
          <p:nvPr/>
        </p:nvSpPr>
        <p:spPr>
          <a:xfrm>
            <a:off x="8641080" y="5166360"/>
            <a:ext cx="2743200" cy="73152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Next: calibrate image forensics on a real labelled sample.</a:t>
            </a:r>
            <a:endParaRPr lang="en-US" sz="1400" dirty="0"/>
          </a:p>
        </p:txBody>
      </p:sp>
      <p:sp>
        <p:nvSpPr>
          <p:cNvPr id="25" name="Slide Number Placeholder 0"/>
          <p:cNvSpPr>
            <a:spLocks noGrp="1"/>
          </p:cNvSpPr>
          <p:nvPr>
            <p:ph type="sldNum" sz="quarter" idx="4294967295"/>
          </p:nvPr>
        </p:nvSpPr>
        <p:spPr>
          <a:xfrm>
            <a:off x="11064240"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A9B4C2"/>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Assignment 3: Software Development and Integration</dc:title>
  <dc:subject>Development process, technology selection, Git/GitHub, CI/CD, scientific software</dc:subject>
  <dc:creator>OrazovTairlan</dc:creator>
  <cp:lastModifiedBy>OrazovTairlan</cp:lastModifiedBy>
  <cp:revision>1</cp:revision>
  <dcterms:created xsi:type="dcterms:W3CDTF">2026-10-06T14:15:12Z</dcterms:created>
  <dcterms:modified xsi:type="dcterms:W3CDTF">2026-10-06T14:15:12Z</dcterms:modified>
</cp:coreProperties>
</file>